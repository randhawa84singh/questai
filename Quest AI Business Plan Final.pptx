
<file path=[Content_Types].xml><?xml version="1.0" encoding="utf-8"?>
<Types xmlns="http://schemas.openxmlformats.org/package/2006/content-types">
  <Default Extension="f3bce7d4-edb6-402f-bfa8-7445139dedeb" ContentType="image/f3bce7d4-edb6-402f-bfa8-7445139dedeb"/>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0" d="100"/>
          <a:sy n="140" d="100"/>
        </p:scale>
        <p:origin x="79" y="5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546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f3bce7d4-edb6-402f-bfa8-7445139dedeb"/><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3384281" y="1746902"/>
            <a:ext cx="2375353" cy="685800"/>
          </a:xfrm>
          <a:prstGeom prst="rect">
            <a:avLst/>
          </a:prstGeom>
          <a:noFill/>
          <a:ln/>
        </p:spPr>
        <p:txBody>
          <a:bodyPr wrap="square" lIns="0" tIns="0" rIns="0" bIns="0" rtlCol="0" anchor="t"/>
          <a:lstStyle/>
          <a:p>
            <a:pPr marL="0" indent="0" algn="ctr">
              <a:lnSpc>
                <a:spcPts val="7200"/>
              </a:lnSpc>
              <a:buNone/>
            </a:pPr>
            <a:r>
              <a:rPr lang="en-US" sz="4500" b="1" dirty="0">
                <a:solidFill>
                  <a:srgbClr val="38BDF8"/>
                </a:solidFill>
                <a:latin typeface="Arial" pitchFamily="34" charset="0"/>
                <a:ea typeface="Arial" pitchFamily="34" charset="-122"/>
                <a:cs typeface="Arial" pitchFamily="34" charset="-120"/>
              </a:rPr>
              <a:t>Quest AI</a:t>
            </a:r>
            <a:endParaRPr lang="en-US" sz="4500" dirty="0"/>
          </a:p>
        </p:txBody>
      </p:sp>
      <p:sp>
        <p:nvSpPr>
          <p:cNvPr id="3" name="Text 1"/>
          <p:cNvSpPr/>
          <p:nvPr/>
        </p:nvSpPr>
        <p:spPr>
          <a:xfrm>
            <a:off x="3833188" y="2585102"/>
            <a:ext cx="1477624" cy="320023"/>
          </a:xfrm>
          <a:prstGeom prst="rect">
            <a:avLst/>
          </a:prstGeom>
          <a:noFill/>
          <a:ln/>
        </p:spPr>
        <p:txBody>
          <a:bodyPr wrap="square" lIns="0" tIns="0" rIns="0" bIns="0" rtlCol="0" anchor="t"/>
          <a:lstStyle/>
          <a:p>
            <a:pPr marL="0" indent="0" algn="ctr">
              <a:lnSpc>
                <a:spcPts val="3360"/>
              </a:lnSpc>
              <a:buNone/>
            </a:pPr>
            <a:r>
              <a:rPr lang="en-US" sz="1800" dirty="0">
                <a:solidFill>
                  <a:srgbClr val="CBD5E1"/>
                </a:solidFill>
                <a:latin typeface="Arial" pitchFamily="34" charset="0"/>
                <a:ea typeface="Arial" pitchFamily="34" charset="-122"/>
                <a:cs typeface="Arial" pitchFamily="34" charset="-120"/>
              </a:rPr>
              <a:t>Business Plan</a:t>
            </a:r>
            <a:endParaRPr lang="en-US" sz="1800" dirty="0"/>
          </a:p>
        </p:txBody>
      </p:sp>
      <p:sp>
        <p:nvSpPr>
          <p:cNvPr id="4" name="Text 2"/>
          <p:cNvSpPr/>
          <p:nvPr/>
        </p:nvSpPr>
        <p:spPr>
          <a:xfrm>
            <a:off x="3827204" y="3209925"/>
            <a:ext cx="1489508" cy="186673"/>
          </a:xfrm>
          <a:prstGeom prst="rect">
            <a:avLst/>
          </a:prstGeom>
          <a:noFill/>
          <a:ln/>
        </p:spPr>
        <p:txBody>
          <a:bodyPr wrap="square" lIns="0" tIns="0" rIns="0" bIns="0" rtlCol="0" anchor="t"/>
          <a:lstStyle/>
          <a:p>
            <a:pPr marL="0" indent="0" algn="ctr">
              <a:lnSpc>
                <a:spcPts val="1960"/>
              </a:lnSpc>
              <a:buNone/>
            </a:pPr>
            <a:r>
              <a:rPr lang="en-US" sz="1050" dirty="0">
                <a:solidFill>
                  <a:srgbClr val="94A3B8"/>
                </a:solidFill>
                <a:latin typeface="Arial" pitchFamily="34" charset="0"/>
                <a:ea typeface="Arial" pitchFamily="34" charset="-122"/>
                <a:cs typeface="Arial" pitchFamily="34" charset="-120"/>
              </a:rPr>
              <a:t>Randhawa Yuvraj •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Business Mission</a:t>
            </a:r>
            <a:endParaRPr lang="en-US" sz="2700" dirty="0"/>
          </a:p>
        </p:txBody>
      </p:sp>
      <p:sp>
        <p:nvSpPr>
          <p:cNvPr id="3" name="Text 1"/>
          <p:cNvSpPr/>
          <p:nvPr/>
        </p:nvSpPr>
        <p:spPr>
          <a:xfrm>
            <a:off x="609600" y="1325846"/>
            <a:ext cx="7924801" cy="685800"/>
          </a:xfrm>
          <a:prstGeom prst="rect">
            <a:avLst/>
          </a:prstGeom>
          <a:noFill/>
          <a:ln/>
        </p:spPr>
        <p:txBody>
          <a:bodyPr wrap="square" lIns="0" tIns="0" rIns="0" bIns="0" rtlCol="0" anchor="t"/>
          <a:lstStyle/>
          <a:p>
            <a:pPr marL="0" indent="0">
              <a:lnSpc>
                <a:spcPts val="3600"/>
              </a:lnSpc>
              <a:buNone/>
            </a:pPr>
            <a:r>
              <a:rPr lang="en-US" sz="1500" dirty="0">
                <a:solidFill>
                  <a:srgbClr val="CBD5E1"/>
                </a:solidFill>
                <a:latin typeface="Arial" pitchFamily="34" charset="0"/>
                <a:ea typeface="Arial" pitchFamily="34" charset="-122"/>
                <a:cs typeface="Arial" pitchFamily="34" charset="-120"/>
              </a:rPr>
              <a:t>To make learning more effective and enjoyable for students by turning education into a fun, AI-powered adventure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Business Description</a:t>
            </a:r>
            <a:endParaRPr lang="en-US" sz="2700" dirty="0"/>
          </a:p>
        </p:txBody>
      </p:sp>
      <p:sp>
        <p:nvSpPr>
          <p:cNvPr id="3" name="Text 1"/>
          <p:cNvSpPr/>
          <p:nvPr/>
        </p:nvSpPr>
        <p:spPr>
          <a:xfrm>
            <a:off x="609600" y="1249647"/>
            <a:ext cx="7924801" cy="1041967"/>
          </a:xfrm>
          <a:prstGeom prst="rect">
            <a:avLst/>
          </a:prstGeom>
          <a:noFill/>
          <a:ln/>
        </p:spPr>
        <p:txBody>
          <a:bodyPr wrap="square" lIns="0" tIns="0" rIns="0" bIns="0" rtlCol="0" anchor="t"/>
          <a:lstStyle/>
          <a:p>
            <a:pPr marL="0" indent="0">
              <a:lnSpc>
                <a:spcPts val="2736"/>
              </a:lnSpc>
              <a:buNone/>
            </a:pPr>
            <a:r>
              <a:rPr lang="en-US" sz="1140" dirty="0">
                <a:solidFill>
                  <a:srgbClr val="CBD5E1"/>
                </a:solidFill>
                <a:latin typeface="Arial" pitchFamily="34" charset="0"/>
                <a:ea typeface="Arial" pitchFamily="34" charset="-122"/>
                <a:cs typeface="Arial" pitchFamily="34" charset="-120"/>
              </a:rPr>
              <a:t>QuestAI is a fun, gamified learning app designed and created to help students learn more effectively and efficiently with the same personalisation as a personal teacher. It uses artificial intelligence to personalise lessons and study questions based on each student's strengths and weaknesses and their question history, making the learning experience feel like an adventure.</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Business Description (cont.)</a:t>
            </a:r>
            <a:endParaRPr lang="en-US" sz="2700" dirty="0"/>
          </a:p>
        </p:txBody>
      </p:sp>
      <p:sp>
        <p:nvSpPr>
          <p:cNvPr id="3" name="Text 1"/>
          <p:cNvSpPr/>
          <p:nvPr/>
        </p:nvSpPr>
        <p:spPr>
          <a:xfrm>
            <a:off x="609600" y="1249646"/>
            <a:ext cx="7924801" cy="1041967"/>
          </a:xfrm>
          <a:prstGeom prst="rect">
            <a:avLst/>
          </a:prstGeom>
          <a:noFill/>
          <a:ln/>
        </p:spPr>
        <p:txBody>
          <a:bodyPr wrap="square" lIns="0" tIns="0" rIns="0" bIns="0" rtlCol="0" anchor="t"/>
          <a:lstStyle/>
          <a:p>
            <a:pPr marL="0" indent="0">
              <a:lnSpc>
                <a:spcPts val="2736"/>
              </a:lnSpc>
              <a:buNone/>
            </a:pPr>
            <a:r>
              <a:rPr lang="en-US" sz="1140" dirty="0">
                <a:solidFill>
                  <a:srgbClr val="CBD5E1"/>
                </a:solidFill>
                <a:latin typeface="Arial" pitchFamily="34" charset="0"/>
                <a:ea typeface="Arial" pitchFamily="34" charset="-122"/>
                <a:cs typeface="Arial" pitchFamily="34" charset="-120"/>
              </a:rPr>
              <a:t>Students complete quests and can earn points, unlock levels, and receive rewards and prizes as they progress through the curriculum. QuestAI is made and designed for primary and high-school students who enjoy interactive, game-style learning and need that extra motivation to stay engaged. By combining adaptive AI technology with fun challenges, QuestAI makes studying way easier, more enjoyable, and way more effective.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Product: Goods/Services &amp; Key Features</a:t>
            </a:r>
            <a:endParaRPr lang="en-US" sz="2700" dirty="0"/>
          </a:p>
        </p:txBody>
      </p:sp>
      <p:sp>
        <p:nvSpPr>
          <p:cNvPr id="3" name="Text 1"/>
          <p:cNvSpPr/>
          <p:nvPr/>
        </p:nvSpPr>
        <p:spPr>
          <a:xfrm>
            <a:off x="609600" y="1173447"/>
            <a:ext cx="7924801" cy="466385"/>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QuestAI provides a learning app that helps students study through fun, game-styled activities. The app includes personalised lessons, practice questions, quizzes, and AI-generated feedback based on each student's learning level.</a:t>
            </a:r>
            <a:endParaRPr lang="en-US" sz="1080" dirty="0"/>
          </a:p>
        </p:txBody>
      </p:sp>
      <p:sp>
        <p:nvSpPr>
          <p:cNvPr id="4" name="Text 2"/>
          <p:cNvSpPr/>
          <p:nvPr/>
        </p:nvSpPr>
        <p:spPr>
          <a:xfrm>
            <a:off x="609600" y="1792232"/>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Key features include:</a:t>
            </a:r>
            <a:endParaRPr lang="en-US" sz="1080" dirty="0"/>
          </a:p>
        </p:txBody>
      </p:sp>
      <p:sp>
        <p:nvSpPr>
          <p:cNvPr id="5" name="Text 3"/>
          <p:cNvSpPr/>
          <p:nvPr/>
        </p:nvSpPr>
        <p:spPr>
          <a:xfrm>
            <a:off x="914400" y="1984263"/>
            <a:ext cx="7620001" cy="1330438"/>
          </a:xfrm>
          <a:prstGeom prst="rect">
            <a:avLst/>
          </a:prstGeom>
          <a:noFill/>
          <a:ln/>
        </p:spPr>
        <p:txBody>
          <a:bodyPr wrap="square" lIns="0" tIns="0" rIns="0" bIns="0" rtlCol="0" anchor="t"/>
          <a:lstStyle/>
          <a:p>
            <a:pPr marL="342900" indent="-342900">
              <a:lnSpc>
                <a:spcPts val="2592"/>
              </a:lnSpc>
              <a:buSzPct val="100000"/>
              <a:buChar char="•"/>
            </a:pPr>
            <a:r>
              <a:rPr lang="en-US" sz="1080" dirty="0">
                <a:solidFill>
                  <a:srgbClr val="CBD5E1"/>
                </a:solidFill>
                <a:latin typeface="Arial" pitchFamily="34" charset="0"/>
                <a:ea typeface="Arial" pitchFamily="34" charset="-122"/>
                <a:cs typeface="Arial" pitchFamily="34" charset="-120"/>
              </a:rPr>
              <a:t>Points and level-up system connected to world leaderboard</a:t>
            </a:r>
            <a:endParaRPr lang="en-US" sz="1080" dirty="0"/>
          </a:p>
          <a:p>
            <a:pPr marL="342900" indent="-342900">
              <a:lnSpc>
                <a:spcPts val="2592"/>
              </a:lnSpc>
              <a:buSzPct val="100000"/>
              <a:buChar char="•"/>
            </a:pPr>
            <a:r>
              <a:rPr lang="en-US" sz="1080" dirty="0">
                <a:solidFill>
                  <a:srgbClr val="CBD5E1"/>
                </a:solidFill>
                <a:latin typeface="Arial" pitchFamily="34" charset="0"/>
                <a:ea typeface="Arial" pitchFamily="34" charset="-122"/>
                <a:cs typeface="Arial" pitchFamily="34" charset="-120"/>
              </a:rPr>
              <a:t>Daily quests and streak rewards</a:t>
            </a:r>
            <a:endParaRPr lang="en-US" sz="1080" dirty="0"/>
          </a:p>
          <a:p>
            <a:pPr marL="342900" indent="-342900">
              <a:lnSpc>
                <a:spcPts val="2592"/>
              </a:lnSpc>
              <a:buSzPct val="100000"/>
              <a:buChar char="•"/>
            </a:pPr>
            <a:r>
              <a:rPr lang="en-US" sz="1080" dirty="0">
                <a:solidFill>
                  <a:srgbClr val="CBD5E1"/>
                </a:solidFill>
                <a:latin typeface="Arial" pitchFamily="34" charset="0"/>
                <a:ea typeface="Arial" pitchFamily="34" charset="-122"/>
                <a:cs typeface="Arial" pitchFamily="34" charset="-120"/>
              </a:rPr>
              <a:t>Progress tracking</a:t>
            </a:r>
            <a:endParaRPr lang="en-US" sz="1080" dirty="0"/>
          </a:p>
          <a:p>
            <a:pPr marL="342900" indent="-342900">
              <a:lnSpc>
                <a:spcPts val="2592"/>
              </a:lnSpc>
              <a:buSzPct val="100000"/>
              <a:buChar char="•"/>
            </a:pPr>
            <a:r>
              <a:rPr lang="en-US" sz="1080" dirty="0">
                <a:solidFill>
                  <a:srgbClr val="CBD5E1"/>
                </a:solidFill>
                <a:latin typeface="Arial" pitchFamily="34" charset="0"/>
                <a:ea typeface="Arial" pitchFamily="34" charset="-122"/>
                <a:cs typeface="Arial" pitchFamily="34" charset="-120"/>
              </a:rPr>
              <a:t>Personalised study path that updates automatically</a:t>
            </a:r>
            <a:endParaRPr lang="en-US" sz="10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Product Differentiation</a:t>
            </a:r>
            <a:endParaRPr lang="en-US" sz="2700" dirty="0"/>
          </a:p>
        </p:txBody>
      </p:sp>
      <p:sp>
        <p:nvSpPr>
          <p:cNvPr id="3" name="Text 1"/>
          <p:cNvSpPr/>
          <p:nvPr/>
        </p:nvSpPr>
        <p:spPr>
          <a:xfrm>
            <a:off x="609600" y="1173445"/>
            <a:ext cx="8083297" cy="202576"/>
          </a:xfrm>
          <a:prstGeom prst="rect">
            <a:avLst/>
          </a:prstGeom>
          <a:noFill/>
          <a:ln/>
        </p:spPr>
        <p:txBody>
          <a:bodyPr wrap="square" lIns="0" tIns="0" rIns="0" bIns="0" rtlCol="0" anchor="t"/>
          <a:lstStyle/>
          <a:p>
            <a:pPr marL="0" indent="0">
              <a:lnSpc>
                <a:spcPts val="2128"/>
              </a:lnSpc>
              <a:buNone/>
            </a:pPr>
            <a:r>
              <a:rPr lang="en-US" sz="1140" b="1" dirty="0">
                <a:solidFill>
                  <a:srgbClr val="CBD5E1"/>
                </a:solidFill>
                <a:latin typeface="Arial" pitchFamily="34" charset="0"/>
                <a:ea typeface="Arial" pitchFamily="34" charset="-122"/>
                <a:cs typeface="Arial" pitchFamily="34" charset="-120"/>
              </a:rPr>
              <a:t>How QuestAI is Different:</a:t>
            </a:r>
            <a:endParaRPr lang="en-US" sz="1140" dirty="0"/>
          </a:p>
        </p:txBody>
      </p:sp>
      <p:sp>
        <p:nvSpPr>
          <p:cNvPr id="4" name="Text 2"/>
          <p:cNvSpPr/>
          <p:nvPr/>
        </p:nvSpPr>
        <p:spPr>
          <a:xfrm>
            <a:off x="609600" y="1528421"/>
            <a:ext cx="7924801" cy="699577"/>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QuestAI uses real-time adaptive AI to personalise every lesson and question automatically. Other apps normally use fixed levels, generic worksheets, or the same questions for every student. QuestAI adjusts difficulty instantly, just like a real teacher would and can generate unique questions based on the student's needs.</a:t>
            </a:r>
            <a:endParaRPr lang="en-US" sz="1080" dirty="0"/>
          </a:p>
        </p:txBody>
      </p:sp>
      <p:sp>
        <p:nvSpPr>
          <p:cNvPr id="5" name="Text 3"/>
          <p:cNvSpPr/>
          <p:nvPr/>
        </p:nvSpPr>
        <p:spPr>
          <a:xfrm>
            <a:off x="609600" y="2380399"/>
            <a:ext cx="7924801" cy="466385"/>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Another difference is the strong gamification system—points, levels, badges, and mini-quests—which keeps students motivated to stay engaged longer.</a:t>
            </a:r>
            <a:endParaRPr lang="en-US" sz="10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347492"/>
          </a:xfrm>
          <a:prstGeom prst="rect">
            <a:avLst/>
          </a:prstGeom>
          <a:noFill/>
          <a:ln/>
        </p:spPr>
        <p:txBody>
          <a:bodyPr wrap="square" lIns="0" tIns="0" rIns="0" bIns="0" rtlCol="0" anchor="t"/>
          <a:lstStyle/>
          <a:p>
            <a:pPr marL="0" indent="0">
              <a:lnSpc>
                <a:spcPts val="3648"/>
              </a:lnSpc>
              <a:buNone/>
            </a:pPr>
            <a:r>
              <a:rPr lang="en-US" sz="2280" b="1" dirty="0">
                <a:solidFill>
                  <a:srgbClr val="38BDF8"/>
                </a:solidFill>
                <a:latin typeface="Arial" pitchFamily="34" charset="0"/>
                <a:ea typeface="Arial" pitchFamily="34" charset="-122"/>
                <a:cs typeface="Arial" pitchFamily="34" charset="-120"/>
              </a:rPr>
              <a:t>Differentiation &amp; Key Benefits</a:t>
            </a:r>
            <a:endParaRPr lang="en-US" sz="2280" dirty="0"/>
          </a:p>
        </p:txBody>
      </p:sp>
      <p:sp>
        <p:nvSpPr>
          <p:cNvPr id="3" name="Text 1"/>
          <p:cNvSpPr/>
          <p:nvPr/>
        </p:nvSpPr>
        <p:spPr>
          <a:xfrm>
            <a:off x="609600" y="1109490"/>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Why QuestAI Stands Out:</a:t>
            </a:r>
            <a:endParaRPr lang="en-US" sz="1080" dirty="0"/>
          </a:p>
        </p:txBody>
      </p:sp>
      <p:sp>
        <p:nvSpPr>
          <p:cNvPr id="4" name="Text 2"/>
          <p:cNvSpPr/>
          <p:nvPr/>
        </p:nvSpPr>
        <p:spPr>
          <a:xfrm>
            <a:off x="609600" y="1423392"/>
            <a:ext cx="7924801" cy="828675"/>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QuestAI uses real-time adaptive AI to personalise every lesson and question automatically, adjusting difficulty instantly like a real teacher. The strong gamification system with points, levels, badges, and mini-quests keeps students motivated. Duolingo uses gamification but is limited to language learning, while Khan Academy has adaptive practice but no game quests or rewards. Existing tools focus on either skills or practice but do not combine AI adaptiveness and full gamified learning like QuestAI.</a:t>
            </a:r>
            <a:endParaRPr lang="en-US" sz="1020" dirty="0"/>
          </a:p>
        </p:txBody>
      </p:sp>
      <p:sp>
        <p:nvSpPr>
          <p:cNvPr id="5" name="Text 3"/>
          <p:cNvSpPr/>
          <p:nvPr/>
        </p:nvSpPr>
        <p:spPr>
          <a:xfrm>
            <a:off x="609600" y="2404467"/>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Core Benefits:</a:t>
            </a:r>
            <a:endParaRPr lang="en-US" sz="1080" dirty="0"/>
          </a:p>
        </p:txBody>
      </p:sp>
      <p:sp>
        <p:nvSpPr>
          <p:cNvPr id="6" name="Text 4"/>
          <p:cNvSpPr/>
          <p:nvPr/>
        </p:nvSpPr>
        <p:spPr>
          <a:xfrm>
            <a:off x="609600" y="2718367"/>
            <a:ext cx="7924801" cy="621506"/>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Students gain more engagement since learning feels like playing a game, receive personalised learning tailored to their level, experience confidence boosts from completing quests, achieve faster learning through targeted weak area focus, and benefit from progress tracking through dashboards for students, parents, and teachers.</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Improving Productivity</a:t>
            </a:r>
            <a:endParaRPr lang="en-US" sz="2700" dirty="0"/>
          </a:p>
        </p:txBody>
      </p:sp>
      <p:sp>
        <p:nvSpPr>
          <p:cNvPr id="3" name="Text 1"/>
          <p:cNvSpPr/>
          <p:nvPr/>
        </p:nvSpPr>
        <p:spPr>
          <a:xfrm>
            <a:off x="609600" y="1173445"/>
            <a:ext cx="7924801" cy="699577"/>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QuestAI improves business productivity by using automated systems to reduce workload, save time, and streamline operations. The AI automatically generates questions, updates difficulty levels, and manages large amounts of student data without needing manual input.</a:t>
            </a:r>
            <a:endParaRPr lang="en-US" sz="1080" dirty="0"/>
          </a:p>
        </p:txBody>
      </p:sp>
      <p:sp>
        <p:nvSpPr>
          <p:cNvPr id="4" name="Text 2"/>
          <p:cNvSpPr/>
          <p:nvPr/>
        </p:nvSpPr>
        <p:spPr>
          <a:xfrm>
            <a:off x="609600" y="2025423"/>
            <a:ext cx="7924801" cy="466385"/>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The business also improves productivity by using cloud servers to handle most processing, which lowers hardware costs and reduces maintenance time. Automated reporting tools help the team track bugs, performance, and user activity efficiently.</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347492"/>
          </a:xfrm>
          <a:prstGeom prst="rect">
            <a:avLst/>
          </a:prstGeom>
          <a:noFill/>
          <a:ln/>
        </p:spPr>
        <p:txBody>
          <a:bodyPr wrap="square" lIns="0" tIns="0" rIns="0" bIns="0" rtlCol="0" anchor="t"/>
          <a:lstStyle/>
          <a:p>
            <a:pPr marL="0" indent="0">
              <a:lnSpc>
                <a:spcPts val="3648"/>
              </a:lnSpc>
              <a:buNone/>
            </a:pPr>
            <a:r>
              <a:rPr lang="en-US" sz="2280" b="1" dirty="0">
                <a:solidFill>
                  <a:srgbClr val="38BDF8"/>
                </a:solidFill>
                <a:latin typeface="Arial" pitchFamily="34" charset="0"/>
                <a:ea typeface="Arial" pitchFamily="34" charset="-122"/>
                <a:cs typeface="Arial" pitchFamily="34" charset="-120"/>
              </a:rPr>
              <a:t>Productivity &amp; Team Management</a:t>
            </a:r>
            <a:endParaRPr lang="en-US" sz="2280" dirty="0"/>
          </a:p>
        </p:txBody>
      </p:sp>
      <p:sp>
        <p:nvSpPr>
          <p:cNvPr id="3" name="Text 1"/>
          <p:cNvSpPr/>
          <p:nvPr/>
        </p:nvSpPr>
        <p:spPr>
          <a:xfrm>
            <a:off x="609600" y="1109495"/>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Improving Business Productivity:</a:t>
            </a:r>
            <a:endParaRPr lang="en-US" sz="1080" dirty="0"/>
          </a:p>
        </p:txBody>
      </p:sp>
      <p:sp>
        <p:nvSpPr>
          <p:cNvPr id="4" name="Text 2"/>
          <p:cNvSpPr/>
          <p:nvPr/>
        </p:nvSpPr>
        <p:spPr>
          <a:xfrm>
            <a:off x="609600" y="1423392"/>
            <a:ext cx="7924801" cy="1035844"/>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QuestAI improves productivity through automated systems that reduce workload and streamline operations. The AI automatically generates questions, updates difficulty levels, and manages student data without manual input. Cloud servers handle most processing, lowering hardware costs and maintenance time, while automated reporting tools track bugs and performance efficiently. Duolingo increases productivity using streaks and XP to keep learners active longer, while Google Classroom improves productivity through automation and auto-marking quizzes.</a:t>
            </a:r>
            <a:endParaRPr lang="en-US" sz="1020" dirty="0"/>
          </a:p>
        </p:txBody>
      </p:sp>
      <p:sp>
        <p:nvSpPr>
          <p:cNvPr id="5" name="Text 3"/>
          <p:cNvSpPr/>
          <p:nvPr/>
        </p:nvSpPr>
        <p:spPr>
          <a:xfrm>
            <a:off x="609600" y="2611636"/>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Team Structure &amp; Organization:</a:t>
            </a:r>
            <a:endParaRPr lang="en-US" sz="1080" dirty="0"/>
          </a:p>
        </p:txBody>
      </p:sp>
      <p:sp>
        <p:nvSpPr>
          <p:cNvPr id="6" name="Text 4"/>
          <p:cNvSpPr/>
          <p:nvPr/>
        </p:nvSpPr>
        <p:spPr>
          <a:xfrm>
            <a:off x="609600" y="2925538"/>
            <a:ext cx="7924801" cy="621506"/>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QuestAI operates with a small, organised team where developers create and update the app, designers handle visual layout, and support staff assist users. The team uses Trello and Slack for communication and project management. Canva and Khan Academy use similar collaborative platforms to keep teams coordinated and productive, demonstrating the effectiveness of this organizational approach.</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347492"/>
          </a:xfrm>
          <a:prstGeom prst="rect">
            <a:avLst/>
          </a:prstGeom>
          <a:noFill/>
          <a:ln/>
        </p:spPr>
        <p:txBody>
          <a:bodyPr wrap="square" lIns="0" tIns="0" rIns="0" bIns="0" rtlCol="0" anchor="t"/>
          <a:lstStyle/>
          <a:p>
            <a:pPr marL="0" indent="0">
              <a:lnSpc>
                <a:spcPts val="3648"/>
              </a:lnSpc>
              <a:buNone/>
            </a:pPr>
            <a:r>
              <a:rPr lang="en-US" sz="2280" b="1" dirty="0">
                <a:solidFill>
                  <a:srgbClr val="38BDF8"/>
                </a:solidFill>
                <a:latin typeface="Arial" pitchFamily="34" charset="0"/>
                <a:ea typeface="Arial" pitchFamily="34" charset="-122"/>
                <a:cs typeface="Arial" pitchFamily="34" charset="-120"/>
              </a:rPr>
              <a:t>Marketing &amp; Target Demographics</a:t>
            </a:r>
            <a:endParaRPr lang="en-US" sz="2280" dirty="0"/>
          </a:p>
        </p:txBody>
      </p:sp>
      <p:sp>
        <p:nvSpPr>
          <p:cNvPr id="3" name="Text 1"/>
          <p:cNvSpPr/>
          <p:nvPr/>
        </p:nvSpPr>
        <p:spPr>
          <a:xfrm>
            <a:off x="609600" y="1109495"/>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Primary Market Focus:</a:t>
            </a:r>
            <a:endParaRPr lang="en-US" sz="1080" dirty="0"/>
          </a:p>
        </p:txBody>
      </p:sp>
      <p:sp>
        <p:nvSpPr>
          <p:cNvPr id="4" name="Text 2"/>
          <p:cNvSpPr/>
          <p:nvPr/>
        </p:nvSpPr>
        <p:spPr>
          <a:xfrm>
            <a:off x="609600" y="1423392"/>
            <a:ext cx="7924801" cy="621506"/>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QuestAI is aimed at primary students aged 8 to 12 and high-school students aged 13 to 18 who enjoy game-style learning and need more motivation to study. The platform also targets parents seeking modern educational tools and schools wanting digital learning options for their students.</a:t>
            </a:r>
            <a:endParaRPr lang="en-US" sz="1020" dirty="0"/>
          </a:p>
        </p:txBody>
      </p:sp>
      <p:sp>
        <p:nvSpPr>
          <p:cNvPr id="5" name="Text 3"/>
          <p:cNvSpPr/>
          <p:nvPr/>
        </p:nvSpPr>
        <p:spPr>
          <a:xfrm>
            <a:off x="609600" y="2197298"/>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Geographic &amp; Economic Profile:</a:t>
            </a:r>
            <a:endParaRPr lang="en-US" sz="1080" dirty="0"/>
          </a:p>
        </p:txBody>
      </p:sp>
      <p:sp>
        <p:nvSpPr>
          <p:cNvPr id="6" name="Text 4"/>
          <p:cNvSpPr/>
          <p:nvPr/>
        </p:nvSpPr>
        <p:spPr>
          <a:xfrm>
            <a:off x="609600" y="2511200"/>
            <a:ext cx="7924801" cy="621506"/>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QuestAI's primary market is located in Australia with possible expansion globally. The target demographic includes middle-income families that can afford learning apps and have access to a phone, tablet, or computer with an internet connection. This demographic aligns well with QuestAI's pricing model and digital infrastructure requirements.</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347492"/>
          </a:xfrm>
          <a:prstGeom prst="rect">
            <a:avLst/>
          </a:prstGeom>
          <a:noFill/>
          <a:ln/>
        </p:spPr>
        <p:txBody>
          <a:bodyPr wrap="square" lIns="0" tIns="0" rIns="0" bIns="0" rtlCol="0" anchor="t"/>
          <a:lstStyle/>
          <a:p>
            <a:pPr marL="0" indent="0">
              <a:lnSpc>
                <a:spcPts val="3648"/>
              </a:lnSpc>
              <a:buNone/>
            </a:pPr>
            <a:r>
              <a:rPr lang="en-US" sz="2280" b="1" dirty="0">
                <a:solidFill>
                  <a:srgbClr val="38BDF8"/>
                </a:solidFill>
                <a:latin typeface="Arial" pitchFamily="34" charset="0"/>
                <a:ea typeface="Arial" pitchFamily="34" charset="-122"/>
                <a:cs typeface="Arial" pitchFamily="34" charset="-120"/>
              </a:rPr>
              <a:t>Key Success Factors &amp; Impact</a:t>
            </a:r>
            <a:endParaRPr lang="en-US" sz="2280" dirty="0"/>
          </a:p>
        </p:txBody>
      </p:sp>
      <p:sp>
        <p:nvSpPr>
          <p:cNvPr id="3" name="Text 1"/>
          <p:cNvSpPr/>
          <p:nvPr/>
        </p:nvSpPr>
        <p:spPr>
          <a:xfrm>
            <a:off x="609600" y="1109490"/>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Two Critical Success Factors:</a:t>
            </a:r>
            <a:endParaRPr lang="en-US" sz="1080" dirty="0"/>
          </a:p>
        </p:txBody>
      </p:sp>
      <p:sp>
        <p:nvSpPr>
          <p:cNvPr id="4" name="Text 2"/>
          <p:cNvSpPr/>
          <p:nvPr/>
        </p:nvSpPr>
        <p:spPr>
          <a:xfrm>
            <a:off x="609600" y="1423392"/>
            <a:ext cx="7924801" cy="828675"/>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Students and parents prefer learning tools that adapt to the student's level and offer feedback that makes studying easier, providing personalised learning experiences. Additionally, points, levels, streaks, and leaderboards encourage students to keep studying by making learning fun through gamification and rewards. These two factors work together—personalised content helps students improve while gamification keeps them motivated to continue. Without both, the learning experience becomes less effective.</a:t>
            </a:r>
            <a:endParaRPr lang="en-US" sz="1020" dirty="0"/>
          </a:p>
        </p:txBody>
      </p:sp>
      <p:sp>
        <p:nvSpPr>
          <p:cNvPr id="5" name="Text 3"/>
          <p:cNvSpPr/>
          <p:nvPr/>
        </p:nvSpPr>
        <p:spPr>
          <a:xfrm>
            <a:off x="609600" y="2404467"/>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Impact Over Time:</a:t>
            </a:r>
            <a:endParaRPr lang="en-US" sz="1080" dirty="0"/>
          </a:p>
        </p:txBody>
      </p:sp>
      <p:sp>
        <p:nvSpPr>
          <p:cNvPr id="6" name="Text 4"/>
          <p:cNvSpPr/>
          <p:nvPr/>
        </p:nvSpPr>
        <p:spPr>
          <a:xfrm>
            <a:off x="609600" y="2718364"/>
            <a:ext cx="7924801" cy="621506"/>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In the short term, QuestAI delivers higher engagement, faster improvement in weak subjects, increased motivation from rewards, and more consistent study habits. Long-term benefits include better academic results, stronger study habits, improved student confidence, and clearer progress tracking for parents and teachers, creating lasting educational value.</a:t>
            </a:r>
            <a:endParaRPr lang="en-US" sz="10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347492"/>
          </a:xfrm>
          <a:prstGeom prst="rect">
            <a:avLst/>
          </a:prstGeom>
          <a:noFill/>
          <a:ln/>
        </p:spPr>
        <p:txBody>
          <a:bodyPr wrap="square" lIns="0" tIns="0" rIns="0" bIns="0" rtlCol="0" anchor="t"/>
          <a:lstStyle/>
          <a:p>
            <a:pPr marL="0" indent="0">
              <a:lnSpc>
                <a:spcPts val="3648"/>
              </a:lnSpc>
              <a:buNone/>
            </a:pPr>
            <a:r>
              <a:rPr lang="en-US" sz="2280" b="1" dirty="0">
                <a:solidFill>
                  <a:srgbClr val="38BDF8"/>
                </a:solidFill>
                <a:latin typeface="Arial" pitchFamily="34" charset="0"/>
                <a:ea typeface="Arial" pitchFamily="34" charset="-122"/>
                <a:cs typeface="Arial" pitchFamily="34" charset="-120"/>
              </a:rPr>
              <a:t>Market Analysis &amp; Opportunity</a:t>
            </a:r>
            <a:endParaRPr lang="en-US" sz="2280" dirty="0"/>
          </a:p>
        </p:txBody>
      </p:sp>
      <p:sp>
        <p:nvSpPr>
          <p:cNvPr id="3" name="Text 1"/>
          <p:cNvSpPr/>
          <p:nvPr/>
        </p:nvSpPr>
        <p:spPr>
          <a:xfrm>
            <a:off x="609600" y="1109490"/>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Competitive Landscape:</a:t>
            </a:r>
            <a:endParaRPr lang="en-US" sz="1080" dirty="0"/>
          </a:p>
        </p:txBody>
      </p:sp>
      <p:sp>
        <p:nvSpPr>
          <p:cNvPr id="4" name="Text 2"/>
          <p:cNvSpPr/>
          <p:nvPr/>
        </p:nvSpPr>
        <p:spPr>
          <a:xfrm>
            <a:off x="609600" y="1423392"/>
            <a:ext cx="7924801" cy="828675"/>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Duolingo offers great gamification but is limited to language learning. Khan Academy has strong lessons but is not focused on game-style learning. Mathletics is curriculum-based but less adaptive, while Quizlet provides good revision tools but lacks a quest or reward system. No major platform currently combines adaptive learning, gamification, curriculum-based lessons, and a fun adventure-style learning experience, creating a clear market gap for QuestAI.</a:t>
            </a:r>
            <a:endParaRPr lang="en-US" sz="1020" dirty="0"/>
          </a:p>
        </p:txBody>
      </p:sp>
      <p:sp>
        <p:nvSpPr>
          <p:cNvPr id="5" name="Text 3"/>
          <p:cNvSpPr/>
          <p:nvPr/>
        </p:nvSpPr>
        <p:spPr>
          <a:xfrm>
            <a:off x="609600" y="2404467"/>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Market Trends:</a:t>
            </a:r>
            <a:endParaRPr lang="en-US" sz="1080" dirty="0"/>
          </a:p>
        </p:txBody>
      </p:sp>
      <p:sp>
        <p:nvSpPr>
          <p:cNvPr id="6" name="Text 4"/>
          <p:cNvSpPr/>
          <p:nvPr/>
        </p:nvSpPr>
        <p:spPr>
          <a:xfrm>
            <a:off x="609600" y="2718364"/>
            <a:ext cx="7924801" cy="621506"/>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Gamified learning is becoming more popular in schools (EdTech Magazine, 2024), and personalised digital learning tools are in increasing demand (Education Review Australia, 2023). Additionally, schools are using significantly more digital tools after COVID (ABS Education Data, 2024), creating favorable conditions for QuestAI's market entry and growth.</a:t>
            </a:r>
            <a:endParaRPr lang="en-US" sz="10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SWOT Analysis: Strengths</a:t>
            </a:r>
            <a:endParaRPr lang="en-US" sz="2700" dirty="0"/>
          </a:p>
        </p:txBody>
      </p:sp>
      <p:sp>
        <p:nvSpPr>
          <p:cNvPr id="3" name="Text 1"/>
          <p:cNvSpPr/>
          <p:nvPr/>
        </p:nvSpPr>
        <p:spPr>
          <a:xfrm>
            <a:off x="609600" y="1249645"/>
            <a:ext cx="7924801" cy="1399155"/>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QuestAI adapts learning to each student through personalized AI-driven lessons and is highly engaging through quests and rewards that keep students motivated. The platform works for a wide age range covering primary and high-school students, and it covers multiple school subjects with comprehensive curriculum support. QuestAI works on most devices including phones, tablets, and computers, while the platform tracks student progress clearly through visual dashboards. Additionally, it has a unique combination of learning features that competitors do not offer together, providing a distinctive value proposition in the ed-tech market.</a:t>
            </a:r>
            <a:endParaRPr lang="en-US" sz="10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SWOT Analysis: Weaknesses</a:t>
            </a:r>
            <a:endParaRPr lang="en-US" sz="2700" dirty="0"/>
          </a:p>
        </p:txBody>
      </p:sp>
      <p:sp>
        <p:nvSpPr>
          <p:cNvPr id="3" name="Text 1"/>
          <p:cNvSpPr/>
          <p:nvPr/>
        </p:nvSpPr>
        <p:spPr>
          <a:xfrm>
            <a:off x="609600" y="1249645"/>
            <a:ext cx="7924801" cy="1165962"/>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The platform requires internet access to provide full features, which may limit accessibility for some users. Some students may be distracted by game elements rather than focused on learning, potentially undermining the educational value. Development and regular updates are costly for the business, requiring significant investment in technical infrastructure and talent. QuestAI has no existing user base to build upon initially, requiring substantial effort to acquire and retain early adopters. Additionally, the business might face strong competition from established ed-tech companies that already have market presence and user loyalty.</a:t>
            </a:r>
            <a:endParaRPr lang="en-US" sz="10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SWOT Analysis: Opportunities</a:t>
            </a:r>
            <a:endParaRPr lang="en-US" sz="2700" dirty="0"/>
          </a:p>
        </p:txBody>
      </p:sp>
      <p:sp>
        <p:nvSpPr>
          <p:cNvPr id="3" name="Text 1"/>
          <p:cNvSpPr/>
          <p:nvPr/>
        </p:nvSpPr>
        <p:spPr>
          <a:xfrm>
            <a:off x="609600" y="1249645"/>
            <a:ext cx="7924801" cy="1399155"/>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There is a growing demand for digital learning tools in schools and homes, creating a favorable market environment for QuestAI's expansion. The platform can form strategic partnerships with schools and tutoring centers to increase adoption and reach. QuestAI has significant potential for expansion into more subjects and year levels, allowing for broader curriculum coverage. The global ed-tech market is large and continues to expand annually, providing ample opportunity for growth and market penetration. Additionally, new features such as multiplayer quests can attract more users and increase engagement, fostering community and collaboration among learners.</a:t>
            </a:r>
            <a:endParaRPr lang="en-US" sz="10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SWOT Analysis: Threats</a:t>
            </a:r>
            <a:endParaRPr lang="en-US" sz="2700" dirty="0"/>
          </a:p>
        </p:txBody>
      </p:sp>
      <p:sp>
        <p:nvSpPr>
          <p:cNvPr id="3" name="Text 1"/>
          <p:cNvSpPr/>
          <p:nvPr/>
        </p:nvSpPr>
        <p:spPr>
          <a:xfrm>
            <a:off x="609600" y="1249654"/>
            <a:ext cx="7924801" cy="1165962"/>
          </a:xfrm>
          <a:prstGeom prst="rect">
            <a:avLst/>
          </a:prstGeom>
          <a:noFill/>
          <a:ln/>
        </p:spPr>
        <p:txBody>
          <a:bodyPr wrap="square" lIns="0" tIns="0" rIns="0" bIns="0" rtlCol="0" anchor="t"/>
          <a:lstStyle/>
          <a:p>
            <a:pPr marL="0" indent="0">
              <a:lnSpc>
                <a:spcPts val="2448"/>
              </a:lnSpc>
              <a:buNone/>
            </a:pPr>
            <a:r>
              <a:rPr lang="en-US" sz="1080" dirty="0">
                <a:solidFill>
                  <a:srgbClr val="CBD5E1"/>
                </a:solidFill>
                <a:latin typeface="Arial" pitchFamily="34" charset="0"/>
                <a:ea typeface="Arial" pitchFamily="34" charset="-122"/>
                <a:cs typeface="Arial" pitchFamily="34" charset="-120"/>
              </a:rPr>
              <a:t>QuestAI faces strong competitors already established in the ed-tech market with significant resources and user bases. Technology changes rapidly, requiring continuous updates and innovation to remain competitive. Data privacy risks and regulatory compliance are major concerns for user protection, demanding investment in security infrastructure. Some parents or teachers may prefer simpler, less gamified learning tools, potentially limiting market appeal. Additionally, school budgets may limit their ability to purchase new digital learning platforms, creating adoption barriers despite product quality and features.</a:t>
            </a:r>
            <a:endParaRPr lang="en-US" sz="10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347492"/>
          </a:xfrm>
          <a:prstGeom prst="rect">
            <a:avLst/>
          </a:prstGeom>
          <a:noFill/>
          <a:ln/>
        </p:spPr>
        <p:txBody>
          <a:bodyPr wrap="square" lIns="0" tIns="0" rIns="0" bIns="0" rtlCol="0" anchor="t"/>
          <a:lstStyle/>
          <a:p>
            <a:pPr marL="0" indent="0">
              <a:lnSpc>
                <a:spcPts val="3648"/>
              </a:lnSpc>
              <a:buNone/>
            </a:pPr>
            <a:r>
              <a:rPr lang="en-US" sz="2280" b="1" dirty="0">
                <a:solidFill>
                  <a:srgbClr val="38BDF8"/>
                </a:solidFill>
                <a:latin typeface="Arial" pitchFamily="34" charset="0"/>
                <a:ea typeface="Arial" pitchFamily="34" charset="-122"/>
                <a:cs typeface="Arial" pitchFamily="34" charset="-120"/>
              </a:rPr>
              <a:t>Online Presence: Essential for Success</a:t>
            </a:r>
            <a:endParaRPr lang="en-US" sz="2280" dirty="0"/>
          </a:p>
        </p:txBody>
      </p:sp>
      <p:sp>
        <p:nvSpPr>
          <p:cNvPr id="3" name="Text 1"/>
          <p:cNvSpPr/>
          <p:nvPr/>
        </p:nvSpPr>
        <p:spPr>
          <a:xfrm>
            <a:off x="609600" y="1109495"/>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Why QuestAI Needs an Online Presence:</a:t>
            </a:r>
            <a:endParaRPr lang="en-US" sz="1080" dirty="0"/>
          </a:p>
        </p:txBody>
      </p:sp>
      <p:sp>
        <p:nvSpPr>
          <p:cNvPr id="4" name="Text 2"/>
          <p:cNvSpPr/>
          <p:nvPr/>
        </p:nvSpPr>
        <p:spPr>
          <a:xfrm>
            <a:off x="609600" y="1423392"/>
            <a:ext cx="7924801" cy="621506"/>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QuestAI must have an online presence to work properly and reach students effectively. The learning system relies on online processing to deliver its AI-powered adaptive learning experience, with student progress updating instantly to adjust lessons in real-time based on performance. Teachers and parents can check progress from anywhere, providing flexibility and accessibility across different locations.</a:t>
            </a:r>
            <a:endParaRPr lang="en-US" sz="1020" dirty="0"/>
          </a:p>
        </p:txBody>
      </p:sp>
      <p:sp>
        <p:nvSpPr>
          <p:cNvPr id="5" name="Text 3"/>
          <p:cNvSpPr/>
          <p:nvPr/>
        </p:nvSpPr>
        <p:spPr>
          <a:xfrm>
            <a:off x="609600" y="2197298"/>
            <a:ext cx="8083297" cy="192031"/>
          </a:xfrm>
          <a:prstGeom prst="rect">
            <a:avLst/>
          </a:prstGeom>
          <a:noFill/>
          <a:ln/>
        </p:spPr>
        <p:txBody>
          <a:bodyPr wrap="square" lIns="0" tIns="0" rIns="0" bIns="0" rtlCol="0" anchor="t"/>
          <a:lstStyle/>
          <a:p>
            <a:pPr marL="0" indent="0">
              <a:lnSpc>
                <a:spcPts val="2016"/>
              </a:lnSpc>
              <a:buNone/>
            </a:pPr>
            <a:r>
              <a:rPr lang="en-US" sz="1080" b="1" dirty="0">
                <a:solidFill>
                  <a:srgbClr val="CBD5E1"/>
                </a:solidFill>
                <a:latin typeface="Arial" pitchFamily="34" charset="0"/>
                <a:ea typeface="Arial" pitchFamily="34" charset="-122"/>
                <a:cs typeface="Arial" pitchFamily="34" charset="-120"/>
              </a:rPr>
              <a:t>Competitive &amp; Operational Advantages:</a:t>
            </a:r>
            <a:endParaRPr lang="en-US" sz="1080" dirty="0"/>
          </a:p>
        </p:txBody>
      </p:sp>
      <p:sp>
        <p:nvSpPr>
          <p:cNvPr id="6" name="Text 4"/>
          <p:cNvSpPr/>
          <p:nvPr/>
        </p:nvSpPr>
        <p:spPr>
          <a:xfrm>
            <a:off x="609600" y="2511205"/>
            <a:ext cx="7924801" cy="621506"/>
          </a:xfrm>
          <a:prstGeom prst="rect">
            <a:avLst/>
          </a:prstGeom>
          <a:noFill/>
          <a:ln/>
        </p:spPr>
        <p:txBody>
          <a:bodyPr wrap="square" lIns="0" tIns="0" rIns="0" bIns="0" rtlCol="0" anchor="t"/>
          <a:lstStyle/>
          <a:p>
            <a:pPr marL="0" indent="0">
              <a:lnSpc>
                <a:spcPts val="2176"/>
              </a:lnSpc>
              <a:buNone/>
            </a:pPr>
            <a:r>
              <a:rPr lang="en-US" sz="1020" dirty="0">
                <a:solidFill>
                  <a:srgbClr val="CBD5E1"/>
                </a:solidFill>
                <a:latin typeface="Arial" pitchFamily="34" charset="0"/>
                <a:ea typeface="Arial" pitchFamily="34" charset="-122"/>
                <a:cs typeface="Arial" pitchFamily="34" charset="-120"/>
              </a:rPr>
              <a:t>Competitors already operate online, making an online presence essential to remain competitive in the market. Additionally, online access makes updates and new features easier to deliver, enabling rapid iteration and continuous improvement without requiring users to manually update their applications. This infrastructure supports long-term business growth and scalability.</a:t>
            </a:r>
            <a:endParaRPr lang="en-US" sz="10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3619881" y="609600"/>
            <a:ext cx="1904238" cy="411446"/>
          </a:xfrm>
          <a:prstGeom prst="rect">
            <a:avLst/>
          </a:prstGeom>
          <a:noFill/>
          <a:ln/>
        </p:spPr>
        <p:txBody>
          <a:bodyPr wrap="square" lIns="0" tIns="0" rIns="0" bIns="0" rtlCol="0" anchor="t"/>
          <a:lstStyle/>
          <a:p>
            <a:pPr marL="0" indent="0" algn="ctr">
              <a:lnSpc>
                <a:spcPts val="4320"/>
              </a:lnSpc>
              <a:buNone/>
            </a:pPr>
            <a:r>
              <a:rPr lang="en-US" sz="2700" b="1" dirty="0">
                <a:solidFill>
                  <a:srgbClr val="38BDF8"/>
                </a:solidFill>
                <a:latin typeface="Arial" pitchFamily="34" charset="0"/>
                <a:ea typeface="Arial" pitchFamily="34" charset="-122"/>
                <a:cs typeface="Arial" pitchFamily="34" charset="-120"/>
              </a:rPr>
              <a:t>Conclusion</a:t>
            </a:r>
            <a:endParaRPr lang="en-US" sz="2700" dirty="0"/>
          </a:p>
        </p:txBody>
      </p:sp>
      <p:sp>
        <p:nvSpPr>
          <p:cNvPr id="3" name="Text 1"/>
          <p:cNvSpPr/>
          <p:nvPr/>
        </p:nvSpPr>
        <p:spPr>
          <a:xfrm>
            <a:off x="609600" y="1325854"/>
            <a:ext cx="7924801" cy="781475"/>
          </a:xfrm>
          <a:prstGeom prst="rect">
            <a:avLst/>
          </a:prstGeom>
          <a:noFill/>
          <a:ln/>
        </p:spPr>
        <p:txBody>
          <a:bodyPr wrap="square" lIns="0" tIns="0" rIns="0" bIns="0" rtlCol="0" anchor="t"/>
          <a:lstStyle/>
          <a:p>
            <a:pPr marL="0" indent="0" algn="ctr">
              <a:lnSpc>
                <a:spcPts val="2736"/>
              </a:lnSpc>
              <a:buNone/>
            </a:pPr>
            <a:r>
              <a:rPr lang="en-US" sz="1140" dirty="0">
                <a:solidFill>
                  <a:srgbClr val="CBD5E1"/>
                </a:solidFill>
                <a:latin typeface="Arial" pitchFamily="34" charset="0"/>
                <a:ea typeface="Arial" pitchFamily="34" charset="-122"/>
                <a:cs typeface="Arial" pitchFamily="34" charset="-120"/>
              </a:rPr>
              <a:t>QuestAI is positioned to revolutionize education through its unique combination of adaptive AI learning and gamification. With a clear market opportunity, strong product differentiation, and a scalable online platform, QuestAI can achieve significant growth while making learning more effective and enjoyable for students worldwide.</a:t>
            </a:r>
            <a:endParaRPr lang="en-US" sz="11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pic>
        <p:nvPicPr>
          <p:cNvPr id="2" name="Image 0" descr="https://agi-prod-file-upload-public-main-use1.s3.amazonaws.com/f3bce7d4-edb6-402f-bfa8-7445139dedeb"/>
          <p:cNvPicPr>
            <a:picLocks noChangeAspect="1"/>
          </p:cNvPicPr>
          <p:nvPr/>
        </p:nvPicPr>
        <p:blipFill>
          <a:blip r:embed="rId3"/>
          <a:stretch>
            <a:fillRect/>
          </a:stretch>
        </p:blipFill>
        <p:spPr>
          <a:xfrm>
            <a:off x="3714750" y="813113"/>
            <a:ext cx="1714500" cy="1714500"/>
          </a:xfrm>
          <a:prstGeom prst="rect">
            <a:avLst/>
          </a:prstGeom>
        </p:spPr>
      </p:pic>
      <p:sp>
        <p:nvSpPr>
          <p:cNvPr id="3" name="Text 0"/>
          <p:cNvSpPr/>
          <p:nvPr/>
        </p:nvSpPr>
        <p:spPr>
          <a:xfrm>
            <a:off x="2997058" y="3812214"/>
            <a:ext cx="3149884" cy="518092"/>
          </a:xfrm>
          <a:prstGeom prst="rect">
            <a:avLst/>
          </a:prstGeom>
          <a:solidFill>
            <a:srgbClr val="38BDF8"/>
          </a:solidFill>
          <a:ln/>
        </p:spPr>
        <p:txBody>
          <a:bodyPr wrap="square" lIns="304800" tIns="304800" rIns="304800" bIns="304800" rtlCol="0" anchor="t">
            <a:normAutofit/>
          </a:bodyPr>
          <a:lstStyle/>
          <a:p>
            <a:pPr marL="0" indent="0" algn="ctr">
              <a:buNone/>
            </a:pPr>
            <a:r>
              <a:rPr lang="en-US" sz="1200" b="1" dirty="0">
                <a:solidFill>
                  <a:srgbClr val="0F172A"/>
                </a:solidFill>
                <a:latin typeface="Arial" pitchFamily="34" charset="0"/>
                <a:ea typeface="Arial" pitchFamily="34" charset="-122"/>
                <a:cs typeface="Arial" pitchFamily="34" charset="-120"/>
              </a:rPr>
              <a:t>Join the Learning Adventure Today</a:t>
            </a:r>
            <a:endParaRPr lang="en-US" sz="1200" dirty="0"/>
          </a:p>
        </p:txBody>
      </p:sp>
      <p:sp>
        <p:nvSpPr>
          <p:cNvPr id="4" name="Text 1"/>
          <p:cNvSpPr/>
          <p:nvPr/>
        </p:nvSpPr>
        <p:spPr>
          <a:xfrm>
            <a:off x="2157958" y="2832413"/>
            <a:ext cx="4828083" cy="320023"/>
          </a:xfrm>
          <a:prstGeom prst="rect">
            <a:avLst/>
          </a:prstGeom>
          <a:noFill/>
          <a:ln/>
        </p:spPr>
        <p:txBody>
          <a:bodyPr wrap="square" lIns="0" tIns="0" rIns="0" bIns="0" rtlCol="0" anchor="t"/>
          <a:lstStyle/>
          <a:p>
            <a:pPr marL="0" indent="0" algn="ctr">
              <a:lnSpc>
                <a:spcPts val="3360"/>
              </a:lnSpc>
              <a:buNone/>
            </a:pPr>
            <a:r>
              <a:rPr lang="en-US" sz="2100" b="1" dirty="0">
                <a:solidFill>
                  <a:srgbClr val="38BDF8"/>
                </a:solidFill>
                <a:latin typeface="Arial" pitchFamily="34" charset="0"/>
                <a:ea typeface="Arial" pitchFamily="34" charset="-122"/>
                <a:cs typeface="Arial" pitchFamily="34" charset="-120"/>
              </a:rPr>
              <a:t>Quest AI: Learn Smarter. Play Harder.</a:t>
            </a:r>
            <a:endParaRPr lang="en-US" sz="2100" dirty="0"/>
          </a:p>
        </p:txBody>
      </p:sp>
      <p:sp>
        <p:nvSpPr>
          <p:cNvPr id="5" name="Text 2"/>
          <p:cNvSpPr/>
          <p:nvPr/>
        </p:nvSpPr>
        <p:spPr>
          <a:xfrm>
            <a:off x="2785129" y="3304840"/>
            <a:ext cx="3573743" cy="202576"/>
          </a:xfrm>
          <a:prstGeom prst="rect">
            <a:avLst/>
          </a:prstGeom>
          <a:noFill/>
          <a:ln/>
        </p:spPr>
        <p:txBody>
          <a:bodyPr wrap="square" lIns="0" tIns="0" rIns="0" bIns="0" rtlCol="0" anchor="t"/>
          <a:lstStyle/>
          <a:p>
            <a:pPr marL="0" indent="0" algn="ctr">
              <a:lnSpc>
                <a:spcPts val="2128"/>
              </a:lnSpc>
              <a:buNone/>
            </a:pPr>
            <a:r>
              <a:rPr lang="en-US" sz="1140" dirty="0">
                <a:solidFill>
                  <a:srgbClr val="CBD5E1"/>
                </a:solidFill>
                <a:latin typeface="Arial" pitchFamily="34" charset="0"/>
                <a:ea typeface="Arial" pitchFamily="34" charset="-122"/>
                <a:cs typeface="Arial" pitchFamily="34" charset="-120"/>
              </a:rPr>
              <a:t>Transforming education through AI-powered adventure</a:t>
            </a:r>
            <a:endParaRPr lang="en-US" sz="11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082027"/>
            <a:ext cx="7924801" cy="1104751"/>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599" y="2347386"/>
            <a:ext cx="7924801" cy="1212938"/>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6" name="Text 4"/>
          <p:cNvSpPr/>
          <p:nvPr/>
        </p:nvSpPr>
        <p:spPr>
          <a:xfrm>
            <a:off x="609598" y="3733001"/>
            <a:ext cx="7924801" cy="1212938"/>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8" name="Text 6"/>
          <p:cNvSpPr/>
          <p:nvPr/>
        </p:nvSpPr>
        <p:spPr>
          <a:xfrm>
            <a:off x="609600" y="609600"/>
            <a:ext cx="8083297" cy="320023"/>
          </a:xfrm>
          <a:prstGeom prst="rect">
            <a:avLst/>
          </a:prstGeom>
          <a:noFill/>
          <a:ln/>
        </p:spPr>
        <p:txBody>
          <a:bodyPr wrap="square" lIns="0" tIns="0" rIns="0" bIns="0" rtlCol="0" anchor="t"/>
          <a:lstStyle/>
          <a:p>
            <a:pPr marL="0" indent="0">
              <a:lnSpc>
                <a:spcPts val="3360"/>
              </a:lnSpc>
              <a:buNone/>
            </a:pPr>
            <a:r>
              <a:rPr lang="en-US" sz="2100" b="1" dirty="0">
                <a:solidFill>
                  <a:srgbClr val="38BDF8"/>
                </a:solidFill>
                <a:latin typeface="Arial" pitchFamily="34" charset="0"/>
                <a:ea typeface="Arial" pitchFamily="34" charset="-122"/>
                <a:cs typeface="Arial" pitchFamily="34" charset="-120"/>
              </a:rPr>
              <a:t>Core Features &amp; Target Market</a:t>
            </a:r>
            <a:endParaRPr lang="en-US" sz="2100" dirty="0"/>
          </a:p>
        </p:txBody>
      </p:sp>
      <p:sp>
        <p:nvSpPr>
          <p:cNvPr id="9" name="Text 7"/>
          <p:cNvSpPr/>
          <p:nvPr/>
        </p:nvSpPr>
        <p:spPr>
          <a:xfrm>
            <a:off x="792446" y="1178166"/>
            <a:ext cx="7710291" cy="201131"/>
          </a:xfrm>
          <a:prstGeom prst="rect">
            <a:avLst/>
          </a:prstGeom>
          <a:noFill/>
          <a:ln/>
        </p:spPr>
        <p:txBody>
          <a:bodyPr wrap="square" lIns="0" tIns="0" rIns="0" bIns="0" rtlCol="0" anchor="t"/>
          <a:lstStyle/>
          <a:p>
            <a:pPr marL="0" indent="0">
              <a:lnSpc>
                <a:spcPts val="2112"/>
              </a:lnSpc>
              <a:buNone/>
            </a:pPr>
            <a:r>
              <a:rPr lang="en-US" sz="1320" b="1" dirty="0">
                <a:solidFill>
                  <a:srgbClr val="38BDF8"/>
                </a:solidFill>
                <a:latin typeface="Arial" pitchFamily="34" charset="0"/>
                <a:ea typeface="Arial" pitchFamily="34" charset="-122"/>
                <a:cs typeface="Arial" pitchFamily="34" charset="-120"/>
              </a:rPr>
              <a:t>AI Personalization</a:t>
            </a:r>
            <a:endParaRPr lang="en-US" sz="1320" dirty="0"/>
          </a:p>
        </p:txBody>
      </p:sp>
      <p:sp>
        <p:nvSpPr>
          <p:cNvPr id="10" name="Text 8"/>
          <p:cNvSpPr/>
          <p:nvPr/>
        </p:nvSpPr>
        <p:spPr>
          <a:xfrm>
            <a:off x="792446" y="1539904"/>
            <a:ext cx="7559108" cy="341369"/>
          </a:xfrm>
          <a:prstGeom prst="rect">
            <a:avLst/>
          </a:prstGeom>
          <a:noFill/>
          <a:ln/>
        </p:spPr>
        <p:txBody>
          <a:bodyPr wrap="square" lIns="0" tIns="0" rIns="0" bIns="0" rtlCol="0" anchor="t"/>
          <a:lstStyle/>
          <a:p>
            <a:pPr marL="0" indent="0">
              <a:lnSpc>
                <a:spcPts val="1792"/>
              </a:lnSpc>
              <a:buNone/>
            </a:pPr>
            <a:r>
              <a:rPr lang="en-US" sz="960" dirty="0">
                <a:solidFill>
                  <a:srgbClr val="CBD5E1"/>
                </a:solidFill>
                <a:latin typeface="Arial" pitchFamily="34" charset="0"/>
                <a:ea typeface="Arial" pitchFamily="34" charset="-122"/>
                <a:cs typeface="Arial" pitchFamily="34" charset="-120"/>
              </a:rPr>
              <a:t>Our AI provides adaptive lessons tailored to each individual student, creating a customized learning experience that adjusts to their unique needs and pace.</a:t>
            </a:r>
            <a:endParaRPr lang="en-US" sz="960" dirty="0"/>
          </a:p>
        </p:txBody>
      </p:sp>
      <p:sp>
        <p:nvSpPr>
          <p:cNvPr id="11" name="Text 9"/>
          <p:cNvSpPr/>
          <p:nvPr/>
        </p:nvSpPr>
        <p:spPr>
          <a:xfrm>
            <a:off x="792446" y="2602893"/>
            <a:ext cx="7710291" cy="201131"/>
          </a:xfrm>
          <a:prstGeom prst="rect">
            <a:avLst/>
          </a:prstGeom>
          <a:noFill/>
          <a:ln/>
        </p:spPr>
        <p:txBody>
          <a:bodyPr wrap="square" lIns="0" tIns="0" rIns="0" bIns="0" rtlCol="0" anchor="t"/>
          <a:lstStyle/>
          <a:p>
            <a:pPr marL="0" indent="0">
              <a:lnSpc>
                <a:spcPts val="2112"/>
              </a:lnSpc>
              <a:buNone/>
            </a:pPr>
            <a:r>
              <a:rPr lang="en-US" sz="1320" b="1" dirty="0">
                <a:solidFill>
                  <a:srgbClr val="38BDF8"/>
                </a:solidFill>
                <a:latin typeface="Arial" pitchFamily="34" charset="0"/>
                <a:ea typeface="Arial" pitchFamily="34" charset="-122"/>
                <a:cs typeface="Arial" pitchFamily="34" charset="-120"/>
              </a:rPr>
              <a:t>Gamification</a:t>
            </a:r>
            <a:endParaRPr lang="en-US" sz="1320" dirty="0"/>
          </a:p>
        </p:txBody>
      </p:sp>
      <p:sp>
        <p:nvSpPr>
          <p:cNvPr id="12" name="Text 10"/>
          <p:cNvSpPr/>
          <p:nvPr/>
        </p:nvSpPr>
        <p:spPr>
          <a:xfrm>
            <a:off x="792446" y="2969589"/>
            <a:ext cx="7559108" cy="341369"/>
          </a:xfrm>
          <a:prstGeom prst="rect">
            <a:avLst/>
          </a:prstGeom>
          <a:noFill/>
          <a:ln/>
        </p:spPr>
        <p:txBody>
          <a:bodyPr wrap="square" lIns="0" tIns="0" rIns="0" bIns="0" rtlCol="0" anchor="t"/>
          <a:lstStyle/>
          <a:p>
            <a:pPr marL="0" indent="0">
              <a:lnSpc>
                <a:spcPts val="1792"/>
              </a:lnSpc>
              <a:buNone/>
            </a:pPr>
            <a:r>
              <a:rPr lang="en-US" sz="960" dirty="0">
                <a:solidFill>
                  <a:srgbClr val="CBD5E1"/>
                </a:solidFill>
                <a:latin typeface="Arial" pitchFamily="34" charset="0"/>
                <a:ea typeface="Arial" pitchFamily="34" charset="-122"/>
                <a:cs typeface="Arial" pitchFamily="34" charset="-120"/>
              </a:rPr>
              <a:t>The platform features a comprehensive points, levels, and rewards system that motivates students to engage and progress through their learning journey.</a:t>
            </a:r>
            <a:endParaRPr lang="en-US" sz="960" dirty="0"/>
          </a:p>
        </p:txBody>
      </p:sp>
      <p:sp>
        <p:nvSpPr>
          <p:cNvPr id="13" name="Text 11"/>
          <p:cNvSpPr/>
          <p:nvPr/>
        </p:nvSpPr>
        <p:spPr>
          <a:xfrm>
            <a:off x="792445" y="3894458"/>
            <a:ext cx="7710291" cy="201131"/>
          </a:xfrm>
          <a:prstGeom prst="rect">
            <a:avLst/>
          </a:prstGeom>
          <a:noFill/>
          <a:ln/>
        </p:spPr>
        <p:txBody>
          <a:bodyPr wrap="square" lIns="0" tIns="0" rIns="0" bIns="0" rtlCol="0" anchor="t"/>
          <a:lstStyle/>
          <a:p>
            <a:pPr marL="0" indent="0">
              <a:lnSpc>
                <a:spcPts val="2112"/>
              </a:lnSpc>
              <a:buNone/>
            </a:pPr>
            <a:r>
              <a:rPr lang="en-US" sz="1320" b="1" dirty="0">
                <a:solidFill>
                  <a:srgbClr val="38BDF8"/>
                </a:solidFill>
                <a:latin typeface="Arial" pitchFamily="34" charset="0"/>
                <a:ea typeface="Arial" pitchFamily="34" charset="-122"/>
                <a:cs typeface="Arial" pitchFamily="34" charset="-120"/>
              </a:rPr>
              <a:t>Progress Tracking</a:t>
            </a:r>
            <a:endParaRPr lang="en-US" sz="1320" dirty="0"/>
          </a:p>
        </p:txBody>
      </p:sp>
      <p:sp>
        <p:nvSpPr>
          <p:cNvPr id="14" name="Text 12"/>
          <p:cNvSpPr/>
          <p:nvPr/>
        </p:nvSpPr>
        <p:spPr>
          <a:xfrm>
            <a:off x="792444" y="4345917"/>
            <a:ext cx="7710291" cy="170685"/>
          </a:xfrm>
          <a:prstGeom prst="rect">
            <a:avLst/>
          </a:prstGeom>
          <a:noFill/>
          <a:ln/>
        </p:spPr>
        <p:txBody>
          <a:bodyPr wrap="square" lIns="0" tIns="0" rIns="0" bIns="0" rtlCol="0" anchor="t"/>
          <a:lstStyle/>
          <a:p>
            <a:pPr marL="0" indent="0">
              <a:lnSpc>
                <a:spcPts val="1792"/>
              </a:lnSpc>
              <a:buNone/>
            </a:pPr>
            <a:r>
              <a:rPr lang="en-US" sz="960" dirty="0">
                <a:solidFill>
                  <a:srgbClr val="CBD5E1"/>
                </a:solidFill>
                <a:latin typeface="Arial" pitchFamily="34" charset="0"/>
                <a:ea typeface="Arial" pitchFamily="34" charset="-122"/>
                <a:cs typeface="Arial" pitchFamily="34" charset="-120"/>
              </a:rPr>
              <a:t>Real-time dashboards for all users provide transparent visibility into learning progress and performance metrics.</a:t>
            </a:r>
            <a:endParaRPr lang="en-US" sz="9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645"/>
            <a:ext cx="3886200" cy="3284254"/>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4648200" y="1249645"/>
            <a:ext cx="3886200" cy="3284254"/>
          </a:xfrm>
          <a:prstGeom prst="rect">
            <a:avLst/>
          </a:prstGeom>
          <a:solidFill>
            <a:srgbClr val="38BDF8"/>
          </a:solidFill>
          <a:ln/>
          <a:effectLst>
            <a:outerShdw blurRad="152400" dist="76200" dir="5400000" algn="bl" rotWithShape="0">
              <a:srgbClr val="000000">
                <a:alpha val="3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Competitive Landscape</a:t>
            </a:r>
            <a:endParaRPr lang="en-US" sz="2700" dirty="0"/>
          </a:p>
        </p:txBody>
      </p:sp>
      <p:sp>
        <p:nvSpPr>
          <p:cNvPr id="5" name="Text 3"/>
          <p:cNvSpPr/>
          <p:nvPr/>
        </p:nvSpPr>
        <p:spPr>
          <a:xfrm>
            <a:off x="838200" y="1478245"/>
            <a:ext cx="3497580" cy="274269"/>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Competitors</a:t>
            </a:r>
            <a:endParaRPr lang="en-US" sz="1800" dirty="0"/>
          </a:p>
        </p:txBody>
      </p:sp>
      <p:sp>
        <p:nvSpPr>
          <p:cNvPr id="6" name="Text 4"/>
          <p:cNvSpPr/>
          <p:nvPr/>
        </p:nvSpPr>
        <p:spPr>
          <a:xfrm>
            <a:off x="1143000" y="1828707"/>
            <a:ext cx="3124200" cy="1220901"/>
          </a:xfrm>
          <a:prstGeom prst="rect">
            <a:avLst/>
          </a:prstGeom>
          <a:noFill/>
          <a:ln/>
        </p:spPr>
        <p:txBody>
          <a:bodyPr wrap="square" lIns="0" tIns="0" rIns="0" bIns="0" rtlCol="0" anchor="t"/>
          <a:lstStyle/>
          <a:p>
            <a:pPr marL="342900" indent="-342900">
              <a:lnSpc>
                <a:spcPts val="2304"/>
              </a:lnSpc>
              <a:buSzPct val="100000"/>
              <a:buChar char="•"/>
            </a:pPr>
            <a:r>
              <a:rPr lang="en-US" sz="960" dirty="0">
                <a:solidFill>
                  <a:srgbClr val="CBD5E1"/>
                </a:solidFill>
                <a:latin typeface="Arial" pitchFamily="34" charset="0"/>
                <a:ea typeface="Arial" pitchFamily="34" charset="-122"/>
                <a:cs typeface="Arial" pitchFamily="34" charset="-120"/>
              </a:rPr>
              <a:t>Duolingo</a:t>
            </a:r>
            <a:endParaRPr lang="en-US" sz="960" dirty="0"/>
          </a:p>
          <a:p>
            <a:pPr marL="342900" indent="-342900">
              <a:lnSpc>
                <a:spcPts val="2304"/>
              </a:lnSpc>
              <a:buSzPct val="100000"/>
              <a:buChar char="•"/>
            </a:pPr>
            <a:r>
              <a:rPr lang="en-US" sz="960" dirty="0">
                <a:solidFill>
                  <a:srgbClr val="CBD5E1"/>
                </a:solidFill>
                <a:latin typeface="Arial" pitchFamily="34" charset="0"/>
                <a:ea typeface="Arial" pitchFamily="34" charset="-122"/>
                <a:cs typeface="Arial" pitchFamily="34" charset="-120"/>
              </a:rPr>
              <a:t>Khan Academy</a:t>
            </a:r>
            <a:endParaRPr lang="en-US" sz="960" dirty="0"/>
          </a:p>
          <a:p>
            <a:pPr marL="342900" indent="-342900">
              <a:lnSpc>
                <a:spcPts val="2304"/>
              </a:lnSpc>
              <a:buSzPct val="100000"/>
              <a:buChar char="•"/>
            </a:pPr>
            <a:r>
              <a:rPr lang="en-US" sz="960" dirty="0">
                <a:solidFill>
                  <a:srgbClr val="CBD5E1"/>
                </a:solidFill>
                <a:latin typeface="Arial" pitchFamily="34" charset="0"/>
                <a:ea typeface="Arial" pitchFamily="34" charset="-122"/>
                <a:cs typeface="Arial" pitchFamily="34" charset="-120"/>
              </a:rPr>
              <a:t>Mathletics</a:t>
            </a:r>
            <a:endParaRPr lang="en-US" sz="960" dirty="0"/>
          </a:p>
          <a:p>
            <a:pPr marL="342900" indent="-342900">
              <a:lnSpc>
                <a:spcPts val="2304"/>
              </a:lnSpc>
              <a:buSzPct val="100000"/>
              <a:buChar char="•"/>
            </a:pPr>
            <a:r>
              <a:rPr lang="en-US" sz="960" dirty="0">
                <a:solidFill>
                  <a:srgbClr val="CBD5E1"/>
                </a:solidFill>
                <a:latin typeface="Arial" pitchFamily="34" charset="0"/>
                <a:ea typeface="Arial" pitchFamily="34" charset="-122"/>
                <a:cs typeface="Arial" pitchFamily="34" charset="-120"/>
              </a:rPr>
              <a:t>Quizlet</a:t>
            </a:r>
            <a:endParaRPr lang="en-US" sz="960" dirty="0"/>
          </a:p>
        </p:txBody>
      </p:sp>
      <p:sp>
        <p:nvSpPr>
          <p:cNvPr id="7" name="Text 5"/>
          <p:cNvSpPr/>
          <p:nvPr/>
        </p:nvSpPr>
        <p:spPr>
          <a:xfrm>
            <a:off x="4876800" y="1478245"/>
            <a:ext cx="3497580" cy="274269"/>
          </a:xfrm>
          <a:prstGeom prst="rect">
            <a:avLst/>
          </a:prstGeom>
          <a:noFill/>
          <a:ln/>
        </p:spPr>
        <p:txBody>
          <a:bodyPr wrap="square" lIns="0" tIns="0" rIns="0" bIns="0" rtlCol="0" anchor="t"/>
          <a:lstStyle/>
          <a:p>
            <a:pPr marL="0" indent="0">
              <a:lnSpc>
                <a:spcPts val="2880"/>
              </a:lnSpc>
              <a:buNone/>
            </a:pPr>
            <a:r>
              <a:rPr lang="en-US" sz="1800" b="1" dirty="0">
                <a:solidFill>
                  <a:srgbClr val="0F172A"/>
                </a:solidFill>
                <a:latin typeface="Arial" pitchFamily="34" charset="0"/>
                <a:ea typeface="Arial" pitchFamily="34" charset="-122"/>
                <a:cs typeface="Arial" pitchFamily="34" charset="-120"/>
              </a:rPr>
              <a:t>QuestAI Advantage</a:t>
            </a:r>
            <a:endParaRPr lang="en-US" sz="1800" dirty="0"/>
          </a:p>
        </p:txBody>
      </p:sp>
      <p:sp>
        <p:nvSpPr>
          <p:cNvPr id="8" name="Text 6"/>
          <p:cNvSpPr/>
          <p:nvPr/>
        </p:nvSpPr>
        <p:spPr>
          <a:xfrm>
            <a:off x="5181600" y="1828707"/>
            <a:ext cx="3124200" cy="1220901"/>
          </a:xfrm>
          <a:prstGeom prst="rect">
            <a:avLst/>
          </a:prstGeom>
          <a:noFill/>
          <a:ln/>
        </p:spPr>
        <p:txBody>
          <a:bodyPr wrap="square" lIns="0" tIns="0" rIns="0" bIns="0" rtlCol="0" anchor="t"/>
          <a:lstStyle/>
          <a:p>
            <a:pPr marL="342900" indent="-342900">
              <a:lnSpc>
                <a:spcPts val="2304"/>
              </a:lnSpc>
              <a:buSzPct val="100000"/>
              <a:buChar char="•"/>
            </a:pPr>
            <a:r>
              <a:rPr lang="en-US" sz="960" dirty="0">
                <a:solidFill>
                  <a:srgbClr val="0F172A"/>
                </a:solidFill>
                <a:latin typeface="Arial" pitchFamily="34" charset="0"/>
                <a:ea typeface="Arial" pitchFamily="34" charset="-122"/>
                <a:cs typeface="Arial" pitchFamily="34" charset="-120"/>
              </a:rPr>
              <a:t>✓ AI + Gamification</a:t>
            </a:r>
            <a:endParaRPr lang="en-US" sz="960" dirty="0"/>
          </a:p>
          <a:p>
            <a:pPr marL="342900" indent="-342900">
              <a:lnSpc>
                <a:spcPts val="2304"/>
              </a:lnSpc>
              <a:buSzPct val="100000"/>
              <a:buChar char="•"/>
            </a:pPr>
            <a:r>
              <a:rPr lang="en-US" sz="960" dirty="0">
                <a:solidFill>
                  <a:srgbClr val="0F172A"/>
                </a:solidFill>
                <a:latin typeface="Arial" pitchFamily="34" charset="0"/>
                <a:ea typeface="Arial" pitchFamily="34" charset="-122"/>
                <a:cs typeface="Arial" pitchFamily="34" charset="-120"/>
              </a:rPr>
              <a:t>✓ Adaptive Learning</a:t>
            </a:r>
            <a:endParaRPr lang="en-US" sz="960" dirty="0"/>
          </a:p>
          <a:p>
            <a:pPr marL="342900" indent="-342900">
              <a:lnSpc>
                <a:spcPts val="2304"/>
              </a:lnSpc>
              <a:buSzPct val="100000"/>
              <a:buChar char="•"/>
            </a:pPr>
            <a:r>
              <a:rPr lang="en-US" sz="960" dirty="0">
                <a:solidFill>
                  <a:srgbClr val="0F172A"/>
                </a:solidFill>
                <a:latin typeface="Arial" pitchFamily="34" charset="0"/>
                <a:ea typeface="Arial" pitchFamily="34" charset="-122"/>
                <a:cs typeface="Arial" pitchFamily="34" charset="-120"/>
              </a:rPr>
              <a:t>✓ Full Curriculum</a:t>
            </a:r>
            <a:endParaRPr lang="en-US" sz="960" dirty="0"/>
          </a:p>
          <a:p>
            <a:pPr marL="342900" indent="-342900">
              <a:lnSpc>
                <a:spcPts val="2304"/>
              </a:lnSpc>
              <a:buSzPct val="100000"/>
              <a:buChar char="•"/>
            </a:pPr>
            <a:r>
              <a:rPr lang="en-US" sz="960" dirty="0">
                <a:solidFill>
                  <a:srgbClr val="0F172A"/>
                </a:solidFill>
                <a:latin typeface="Arial" pitchFamily="34" charset="0"/>
                <a:ea typeface="Arial" pitchFamily="34" charset="-122"/>
                <a:cs typeface="Arial" pitchFamily="34" charset="-120"/>
              </a:rPr>
              <a:t>✓ Adventure Mode</a:t>
            </a:r>
            <a:endParaRPr lang="en-US" sz="9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645"/>
            <a:ext cx="7924801" cy="999700"/>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2477942"/>
            <a:ext cx="7924801" cy="999700"/>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3706239"/>
            <a:ext cx="7924801" cy="999700"/>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Revenue Streams</a:t>
            </a:r>
            <a:endParaRPr lang="en-US" sz="2700" dirty="0"/>
          </a:p>
        </p:txBody>
      </p:sp>
      <p:sp>
        <p:nvSpPr>
          <p:cNvPr id="6" name="Text 4"/>
          <p:cNvSpPr/>
          <p:nvPr/>
        </p:nvSpPr>
        <p:spPr>
          <a:xfrm>
            <a:off x="838200" y="1478245"/>
            <a:ext cx="7616953" cy="274269"/>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Freemium Model</a:t>
            </a:r>
            <a:endParaRPr lang="en-US" sz="1800" dirty="0"/>
          </a:p>
        </p:txBody>
      </p:sp>
      <p:sp>
        <p:nvSpPr>
          <p:cNvPr id="7" name="Text 5"/>
          <p:cNvSpPr/>
          <p:nvPr/>
        </p:nvSpPr>
        <p:spPr>
          <a:xfrm>
            <a:off x="838200" y="1828707"/>
            <a:ext cx="7616953" cy="192031"/>
          </a:xfrm>
          <a:prstGeom prst="rect">
            <a:avLst/>
          </a:prstGeom>
          <a:noFill/>
          <a:ln/>
        </p:spPr>
        <p:txBody>
          <a:bodyPr wrap="square" lIns="0" tIns="0" rIns="0" bIns="0" rtlCol="0" anchor="t"/>
          <a:lstStyle/>
          <a:p>
            <a:pPr marL="0" indent="0">
              <a:lnSpc>
                <a:spcPts val="2016"/>
              </a:lnSpc>
              <a:buNone/>
            </a:pPr>
            <a:r>
              <a:rPr lang="en-US" sz="1080" dirty="0">
                <a:solidFill>
                  <a:srgbClr val="CBD5E1"/>
                </a:solidFill>
                <a:latin typeface="Arial" pitchFamily="34" charset="0"/>
                <a:ea typeface="Arial" pitchFamily="34" charset="-122"/>
                <a:cs typeface="Arial" pitchFamily="34" charset="-120"/>
              </a:rPr>
              <a:t>Free basic features with premium upgrades</a:t>
            </a:r>
            <a:endParaRPr lang="en-US" sz="1080" dirty="0"/>
          </a:p>
        </p:txBody>
      </p:sp>
      <p:sp>
        <p:nvSpPr>
          <p:cNvPr id="8" name="Text 6"/>
          <p:cNvSpPr/>
          <p:nvPr/>
        </p:nvSpPr>
        <p:spPr>
          <a:xfrm>
            <a:off x="838200" y="2706542"/>
            <a:ext cx="7616953" cy="274269"/>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School Licenses</a:t>
            </a:r>
            <a:endParaRPr lang="en-US" sz="1800" dirty="0"/>
          </a:p>
        </p:txBody>
      </p:sp>
      <p:sp>
        <p:nvSpPr>
          <p:cNvPr id="9" name="Text 7"/>
          <p:cNvSpPr/>
          <p:nvPr/>
        </p:nvSpPr>
        <p:spPr>
          <a:xfrm>
            <a:off x="838200" y="3057013"/>
            <a:ext cx="7616953" cy="192031"/>
          </a:xfrm>
          <a:prstGeom prst="rect">
            <a:avLst/>
          </a:prstGeom>
          <a:noFill/>
          <a:ln/>
        </p:spPr>
        <p:txBody>
          <a:bodyPr wrap="square" lIns="0" tIns="0" rIns="0" bIns="0" rtlCol="0" anchor="t"/>
          <a:lstStyle/>
          <a:p>
            <a:pPr marL="0" indent="0">
              <a:lnSpc>
                <a:spcPts val="2016"/>
              </a:lnSpc>
              <a:buNone/>
            </a:pPr>
            <a:r>
              <a:rPr lang="en-US" sz="1080" dirty="0">
                <a:solidFill>
                  <a:srgbClr val="CBD5E1"/>
                </a:solidFill>
                <a:latin typeface="Arial" pitchFamily="34" charset="0"/>
                <a:ea typeface="Arial" pitchFamily="34" charset="-122"/>
                <a:cs typeface="Arial" pitchFamily="34" charset="-120"/>
              </a:rPr>
              <a:t>Volume licensing for institutions</a:t>
            </a:r>
            <a:endParaRPr lang="en-US" sz="1080" dirty="0"/>
          </a:p>
        </p:txBody>
      </p:sp>
      <p:sp>
        <p:nvSpPr>
          <p:cNvPr id="10" name="Text 8"/>
          <p:cNvSpPr/>
          <p:nvPr/>
        </p:nvSpPr>
        <p:spPr>
          <a:xfrm>
            <a:off x="838200" y="3934839"/>
            <a:ext cx="7616953" cy="274269"/>
          </a:xfrm>
          <a:prstGeom prst="rect">
            <a:avLst/>
          </a:prstGeom>
          <a:noFill/>
          <a:ln/>
        </p:spPr>
        <p:txBody>
          <a:bodyPr wrap="square" lIns="0" tIns="0" rIns="0" bIns="0" rtlCol="0" anchor="t"/>
          <a:lstStyle/>
          <a:p>
            <a:pPr marL="0" indent="0">
              <a:lnSpc>
                <a:spcPts val="2880"/>
              </a:lnSpc>
              <a:buNone/>
            </a:pPr>
            <a:r>
              <a:rPr lang="en-US" sz="1800" b="1" dirty="0">
                <a:solidFill>
                  <a:srgbClr val="38BDF8"/>
                </a:solidFill>
                <a:latin typeface="Arial" pitchFamily="34" charset="0"/>
                <a:ea typeface="Arial" pitchFamily="34" charset="-122"/>
                <a:cs typeface="Arial" pitchFamily="34" charset="-120"/>
              </a:rPr>
              <a:t>Premium Subscriptions</a:t>
            </a:r>
            <a:endParaRPr lang="en-US" sz="1800" dirty="0"/>
          </a:p>
        </p:txBody>
      </p:sp>
      <p:sp>
        <p:nvSpPr>
          <p:cNvPr id="11" name="Text 9"/>
          <p:cNvSpPr/>
          <p:nvPr/>
        </p:nvSpPr>
        <p:spPr>
          <a:xfrm>
            <a:off x="838200" y="4285311"/>
            <a:ext cx="7616953" cy="192031"/>
          </a:xfrm>
          <a:prstGeom prst="rect">
            <a:avLst/>
          </a:prstGeom>
          <a:noFill/>
          <a:ln/>
        </p:spPr>
        <p:txBody>
          <a:bodyPr wrap="square" lIns="0" tIns="0" rIns="0" bIns="0" rtlCol="0" anchor="t"/>
          <a:lstStyle/>
          <a:p>
            <a:pPr marL="0" indent="0">
              <a:lnSpc>
                <a:spcPts val="2016"/>
              </a:lnSpc>
              <a:buNone/>
            </a:pPr>
            <a:r>
              <a:rPr lang="en-US" sz="1080" dirty="0">
                <a:solidFill>
                  <a:srgbClr val="CBD5E1"/>
                </a:solidFill>
                <a:latin typeface="Arial" pitchFamily="34" charset="0"/>
                <a:ea typeface="Arial" pitchFamily="34" charset="-122"/>
                <a:cs typeface="Arial" pitchFamily="34" charset="-120"/>
              </a:rPr>
              <a:t>Advanced features and analytics</a:t>
            </a:r>
            <a:endParaRPr lang="en-US" sz="10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405227" y="1082018"/>
            <a:ext cx="333375" cy="333375"/>
          </a:xfrm>
          <a:prstGeom prst="rect">
            <a:avLst/>
          </a:prstGeom>
          <a:solidFill>
            <a:srgbClr val="38BDF8"/>
          </a:solidFill>
          <a:ln/>
        </p:spPr>
        <p:txBody>
          <a:bodyPr wrap="none" lIns="0" tIns="0" rIns="0" bIns="0" rtlCol="0" anchor="ctr">
            <a:normAutofit/>
          </a:bodyPr>
          <a:lstStyle/>
          <a:p>
            <a:pPr marL="0" indent="0">
              <a:buNone/>
            </a:pPr>
            <a:endParaRPr lang="en-US" dirty="0"/>
          </a:p>
        </p:txBody>
      </p:sp>
      <p:sp>
        <p:nvSpPr>
          <p:cNvPr id="3" name="Text 1"/>
          <p:cNvSpPr/>
          <p:nvPr/>
        </p:nvSpPr>
        <p:spPr>
          <a:xfrm>
            <a:off x="4405313" y="1964020"/>
            <a:ext cx="333375" cy="333375"/>
          </a:xfrm>
          <a:prstGeom prst="rect">
            <a:avLst/>
          </a:prstGeom>
          <a:solidFill>
            <a:srgbClr val="38BDF8"/>
          </a:solidFill>
          <a:ln/>
        </p:spPr>
        <p:txBody>
          <a:bodyPr wrap="none" lIns="0" tIns="0" rIns="0" bIns="0" rtlCol="0" anchor="ctr">
            <a:normAutofit/>
          </a:bodyPr>
          <a:lstStyle/>
          <a:p>
            <a:pPr marL="0" indent="0">
              <a:buNone/>
            </a:pPr>
            <a:endParaRPr lang="en-US" dirty="0"/>
          </a:p>
        </p:txBody>
      </p:sp>
      <p:sp>
        <p:nvSpPr>
          <p:cNvPr id="4" name="Text 2"/>
          <p:cNvSpPr/>
          <p:nvPr/>
        </p:nvSpPr>
        <p:spPr>
          <a:xfrm>
            <a:off x="4405227" y="2846012"/>
            <a:ext cx="333375" cy="333375"/>
          </a:xfrm>
          <a:prstGeom prst="rect">
            <a:avLst/>
          </a:prstGeom>
          <a:solidFill>
            <a:srgbClr val="38BDF8"/>
          </a:solidFill>
          <a:ln/>
        </p:spPr>
        <p:txBody>
          <a:bodyPr wrap="none" lIns="0" tIns="0" rIns="0" bIns="0" rtlCol="0" anchor="ctr">
            <a:normAutofit/>
          </a:bodyPr>
          <a:lstStyle/>
          <a:p>
            <a:pPr marL="0" indent="0">
              <a:buNone/>
            </a:pPr>
            <a:endParaRPr lang="en-US" dirty="0"/>
          </a:p>
        </p:txBody>
      </p:sp>
      <p:sp>
        <p:nvSpPr>
          <p:cNvPr id="5" name="Text 3"/>
          <p:cNvSpPr/>
          <p:nvPr/>
        </p:nvSpPr>
        <p:spPr>
          <a:xfrm>
            <a:off x="4405227" y="3728014"/>
            <a:ext cx="333375" cy="333375"/>
          </a:xfrm>
          <a:prstGeom prst="rect">
            <a:avLst/>
          </a:prstGeom>
          <a:solidFill>
            <a:srgbClr val="38BDF8"/>
          </a:solidFill>
          <a:ln/>
        </p:spPr>
        <p:txBody>
          <a:bodyPr wrap="none" lIns="0" tIns="0" rIns="0" bIns="0" rtlCol="0" anchor="ctr">
            <a:normAutofit/>
          </a:bodyPr>
          <a:lstStyle/>
          <a:p>
            <a:pPr marL="0" indent="0">
              <a:buNone/>
            </a:pPr>
            <a:endParaRPr lang="en-US" dirty="0"/>
          </a:p>
        </p:txBody>
      </p:sp>
      <p:sp>
        <p:nvSpPr>
          <p:cNvPr id="6" name="Text 4"/>
          <p:cNvSpPr/>
          <p:nvPr/>
        </p:nvSpPr>
        <p:spPr>
          <a:xfrm>
            <a:off x="609600" y="609600"/>
            <a:ext cx="8083297" cy="320023"/>
          </a:xfrm>
          <a:prstGeom prst="rect">
            <a:avLst/>
          </a:prstGeom>
          <a:noFill/>
          <a:ln/>
        </p:spPr>
        <p:txBody>
          <a:bodyPr wrap="square" lIns="0" tIns="0" rIns="0" bIns="0" rtlCol="0" anchor="t"/>
          <a:lstStyle/>
          <a:p>
            <a:pPr marL="0" indent="0">
              <a:lnSpc>
                <a:spcPts val="3360"/>
              </a:lnSpc>
              <a:buNone/>
            </a:pPr>
            <a:r>
              <a:rPr lang="en-US" sz="2100" b="1" dirty="0">
                <a:solidFill>
                  <a:srgbClr val="38BDF8"/>
                </a:solidFill>
                <a:latin typeface="Arial" pitchFamily="34" charset="0"/>
                <a:ea typeface="Arial" pitchFamily="34" charset="-122"/>
                <a:cs typeface="Arial" pitchFamily="34" charset="-120"/>
              </a:rPr>
              <a:t>Growth Roadmap</a:t>
            </a:r>
            <a:endParaRPr lang="en-US" sz="2100" dirty="0"/>
          </a:p>
        </p:txBody>
      </p:sp>
      <p:sp>
        <p:nvSpPr>
          <p:cNvPr id="7" name="Text 5"/>
          <p:cNvSpPr/>
          <p:nvPr/>
        </p:nvSpPr>
        <p:spPr>
          <a:xfrm>
            <a:off x="4212354" y="1476282"/>
            <a:ext cx="719207" cy="181315"/>
          </a:xfrm>
          <a:prstGeom prst="rect">
            <a:avLst/>
          </a:prstGeom>
          <a:noFill/>
          <a:ln/>
        </p:spPr>
        <p:txBody>
          <a:bodyPr wrap="square" lIns="0" tIns="0" rIns="0" bIns="0" rtlCol="0" anchor="t"/>
          <a:lstStyle/>
          <a:p>
            <a:pPr marL="0" indent="0" algn="ctr">
              <a:lnSpc>
                <a:spcPts val="1904"/>
              </a:lnSpc>
              <a:buNone/>
            </a:pPr>
            <a:r>
              <a:rPr lang="en-US" sz="1020" b="1" dirty="0">
                <a:solidFill>
                  <a:srgbClr val="38BDF8"/>
                </a:solidFill>
                <a:latin typeface="Arial" pitchFamily="34" charset="0"/>
                <a:ea typeface="Arial" pitchFamily="34" charset="-122"/>
                <a:cs typeface="Arial" pitchFamily="34" charset="-120"/>
              </a:rPr>
              <a:t>Phase 1</a:t>
            </a:r>
            <a:endParaRPr lang="en-US" sz="1020" dirty="0"/>
          </a:p>
        </p:txBody>
      </p:sp>
      <p:sp>
        <p:nvSpPr>
          <p:cNvPr id="8" name="Text 6"/>
          <p:cNvSpPr/>
          <p:nvPr/>
        </p:nvSpPr>
        <p:spPr>
          <a:xfrm>
            <a:off x="4212354" y="1657601"/>
            <a:ext cx="719207" cy="159969"/>
          </a:xfrm>
          <a:prstGeom prst="rect">
            <a:avLst/>
          </a:prstGeom>
          <a:noFill/>
          <a:ln/>
        </p:spPr>
        <p:txBody>
          <a:bodyPr wrap="square" lIns="0" tIns="0" rIns="0" bIns="0" rtlCol="0" anchor="t"/>
          <a:lstStyle/>
          <a:p>
            <a:pPr marL="0" indent="0" algn="ctr">
              <a:lnSpc>
                <a:spcPts val="1680"/>
              </a:lnSpc>
              <a:buNone/>
            </a:pPr>
            <a:r>
              <a:rPr lang="en-US" sz="900" dirty="0">
                <a:solidFill>
                  <a:srgbClr val="CBD5E1"/>
                </a:solidFill>
                <a:latin typeface="Arial" pitchFamily="34" charset="0"/>
                <a:ea typeface="Arial" pitchFamily="34" charset="-122"/>
                <a:cs typeface="Arial" pitchFamily="34" charset="-120"/>
              </a:rPr>
              <a:t>Core Platform</a:t>
            </a:r>
            <a:endParaRPr lang="en-US" sz="900" dirty="0"/>
          </a:p>
        </p:txBody>
      </p:sp>
      <p:sp>
        <p:nvSpPr>
          <p:cNvPr id="9" name="Text 7"/>
          <p:cNvSpPr/>
          <p:nvPr/>
        </p:nvSpPr>
        <p:spPr>
          <a:xfrm>
            <a:off x="4050312" y="2358284"/>
            <a:ext cx="1043375" cy="181315"/>
          </a:xfrm>
          <a:prstGeom prst="rect">
            <a:avLst/>
          </a:prstGeom>
          <a:noFill/>
          <a:ln/>
        </p:spPr>
        <p:txBody>
          <a:bodyPr wrap="square" lIns="0" tIns="0" rIns="0" bIns="0" rtlCol="0" anchor="t"/>
          <a:lstStyle/>
          <a:p>
            <a:pPr marL="0" indent="0" algn="ctr">
              <a:lnSpc>
                <a:spcPts val="1904"/>
              </a:lnSpc>
              <a:buNone/>
            </a:pPr>
            <a:r>
              <a:rPr lang="en-US" sz="1020" b="1" dirty="0">
                <a:solidFill>
                  <a:srgbClr val="38BDF8"/>
                </a:solidFill>
                <a:latin typeface="Arial" pitchFamily="34" charset="0"/>
                <a:ea typeface="Arial" pitchFamily="34" charset="-122"/>
                <a:cs typeface="Arial" pitchFamily="34" charset="-120"/>
              </a:rPr>
              <a:t>Phase 2</a:t>
            </a:r>
            <a:endParaRPr lang="en-US" sz="1020" dirty="0"/>
          </a:p>
        </p:txBody>
      </p:sp>
      <p:sp>
        <p:nvSpPr>
          <p:cNvPr id="10" name="Text 8"/>
          <p:cNvSpPr/>
          <p:nvPr/>
        </p:nvSpPr>
        <p:spPr>
          <a:xfrm>
            <a:off x="4050312" y="2539603"/>
            <a:ext cx="1043375" cy="159969"/>
          </a:xfrm>
          <a:prstGeom prst="rect">
            <a:avLst/>
          </a:prstGeom>
          <a:noFill/>
          <a:ln/>
        </p:spPr>
        <p:txBody>
          <a:bodyPr wrap="square" lIns="0" tIns="0" rIns="0" bIns="0" rtlCol="0" anchor="t"/>
          <a:lstStyle/>
          <a:p>
            <a:pPr marL="0" indent="0" algn="ctr">
              <a:lnSpc>
                <a:spcPts val="1680"/>
              </a:lnSpc>
              <a:buNone/>
            </a:pPr>
            <a:r>
              <a:rPr lang="en-US" sz="900" dirty="0">
                <a:solidFill>
                  <a:srgbClr val="CBD5E1"/>
                </a:solidFill>
                <a:latin typeface="Arial" pitchFamily="34" charset="0"/>
                <a:ea typeface="Arial" pitchFamily="34" charset="-122"/>
                <a:cs typeface="Arial" pitchFamily="34" charset="-120"/>
              </a:rPr>
              <a:t>School Partnerships</a:t>
            </a:r>
            <a:endParaRPr lang="en-US" sz="900" dirty="0"/>
          </a:p>
        </p:txBody>
      </p:sp>
      <p:sp>
        <p:nvSpPr>
          <p:cNvPr id="11" name="Text 9"/>
          <p:cNvSpPr/>
          <p:nvPr/>
        </p:nvSpPr>
        <p:spPr>
          <a:xfrm>
            <a:off x="4115026" y="3240286"/>
            <a:ext cx="913864" cy="181315"/>
          </a:xfrm>
          <a:prstGeom prst="rect">
            <a:avLst/>
          </a:prstGeom>
          <a:noFill/>
          <a:ln/>
        </p:spPr>
        <p:txBody>
          <a:bodyPr wrap="square" lIns="0" tIns="0" rIns="0" bIns="0" rtlCol="0" anchor="t"/>
          <a:lstStyle/>
          <a:p>
            <a:pPr marL="0" indent="0" algn="ctr">
              <a:lnSpc>
                <a:spcPts val="1904"/>
              </a:lnSpc>
              <a:buNone/>
            </a:pPr>
            <a:r>
              <a:rPr lang="en-US" sz="1020" b="1" dirty="0">
                <a:solidFill>
                  <a:srgbClr val="38BDF8"/>
                </a:solidFill>
                <a:latin typeface="Arial" pitchFamily="34" charset="0"/>
                <a:ea typeface="Arial" pitchFamily="34" charset="-122"/>
                <a:cs typeface="Arial" pitchFamily="34" charset="-120"/>
              </a:rPr>
              <a:t>Phase 3</a:t>
            </a:r>
            <a:endParaRPr lang="en-US" sz="1020" dirty="0"/>
          </a:p>
        </p:txBody>
      </p:sp>
      <p:sp>
        <p:nvSpPr>
          <p:cNvPr id="12" name="Text 10"/>
          <p:cNvSpPr/>
          <p:nvPr/>
        </p:nvSpPr>
        <p:spPr>
          <a:xfrm>
            <a:off x="4115026" y="3421596"/>
            <a:ext cx="913864" cy="159969"/>
          </a:xfrm>
          <a:prstGeom prst="rect">
            <a:avLst/>
          </a:prstGeom>
          <a:noFill/>
          <a:ln/>
        </p:spPr>
        <p:txBody>
          <a:bodyPr wrap="square" lIns="0" tIns="0" rIns="0" bIns="0" rtlCol="0" anchor="t"/>
          <a:lstStyle/>
          <a:p>
            <a:pPr marL="0" indent="0" algn="ctr">
              <a:lnSpc>
                <a:spcPts val="1680"/>
              </a:lnSpc>
              <a:buNone/>
            </a:pPr>
            <a:r>
              <a:rPr lang="en-US" sz="900" dirty="0">
                <a:solidFill>
                  <a:srgbClr val="CBD5E1"/>
                </a:solidFill>
                <a:latin typeface="Arial" pitchFamily="34" charset="0"/>
                <a:ea typeface="Arial" pitchFamily="34" charset="-122"/>
                <a:cs typeface="Arial" pitchFamily="34" charset="-120"/>
              </a:rPr>
              <a:t>Global Expansion</a:t>
            </a:r>
            <a:endParaRPr lang="en-US" sz="900" dirty="0"/>
          </a:p>
        </p:txBody>
      </p:sp>
      <p:sp>
        <p:nvSpPr>
          <p:cNvPr id="13" name="Text 11"/>
          <p:cNvSpPr/>
          <p:nvPr/>
        </p:nvSpPr>
        <p:spPr>
          <a:xfrm>
            <a:off x="4066448" y="4122279"/>
            <a:ext cx="1011019" cy="181315"/>
          </a:xfrm>
          <a:prstGeom prst="rect">
            <a:avLst/>
          </a:prstGeom>
          <a:noFill/>
          <a:ln/>
        </p:spPr>
        <p:txBody>
          <a:bodyPr wrap="square" lIns="0" tIns="0" rIns="0" bIns="0" rtlCol="0" anchor="t"/>
          <a:lstStyle/>
          <a:p>
            <a:pPr marL="0" indent="0" algn="ctr">
              <a:lnSpc>
                <a:spcPts val="1904"/>
              </a:lnSpc>
              <a:buNone/>
            </a:pPr>
            <a:r>
              <a:rPr lang="en-US" sz="1020" b="1" dirty="0">
                <a:solidFill>
                  <a:srgbClr val="38BDF8"/>
                </a:solidFill>
                <a:latin typeface="Arial" pitchFamily="34" charset="0"/>
                <a:ea typeface="Arial" pitchFamily="34" charset="-122"/>
                <a:cs typeface="Arial" pitchFamily="34" charset="-120"/>
              </a:rPr>
              <a:t>Phase 4</a:t>
            </a:r>
            <a:endParaRPr lang="en-US" sz="1020" dirty="0"/>
          </a:p>
        </p:txBody>
      </p:sp>
      <p:sp>
        <p:nvSpPr>
          <p:cNvPr id="14" name="Text 12"/>
          <p:cNvSpPr/>
          <p:nvPr/>
        </p:nvSpPr>
        <p:spPr>
          <a:xfrm>
            <a:off x="4066448" y="4303598"/>
            <a:ext cx="1011019" cy="159969"/>
          </a:xfrm>
          <a:prstGeom prst="rect">
            <a:avLst/>
          </a:prstGeom>
          <a:noFill/>
          <a:ln/>
        </p:spPr>
        <p:txBody>
          <a:bodyPr wrap="square" lIns="0" tIns="0" rIns="0" bIns="0" rtlCol="0" anchor="t"/>
          <a:lstStyle/>
          <a:p>
            <a:pPr marL="0" indent="0" algn="ctr">
              <a:lnSpc>
                <a:spcPts val="1680"/>
              </a:lnSpc>
              <a:buNone/>
            </a:pPr>
            <a:r>
              <a:rPr lang="en-US" sz="900" dirty="0">
                <a:solidFill>
                  <a:srgbClr val="CBD5E1"/>
                </a:solidFill>
                <a:latin typeface="Arial" pitchFamily="34" charset="0"/>
                <a:ea typeface="Arial" pitchFamily="34" charset="-122"/>
                <a:cs typeface="Arial" pitchFamily="34" charset="-120"/>
              </a:rPr>
              <a:t>Advanced Features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082018"/>
            <a:ext cx="7924801" cy="1267676"/>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2502098"/>
            <a:ext cx="7924801" cy="1267676"/>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3922170"/>
            <a:ext cx="7924801" cy="1267676"/>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7" cy="320023"/>
          </a:xfrm>
          <a:prstGeom prst="rect">
            <a:avLst/>
          </a:prstGeom>
          <a:noFill/>
          <a:ln/>
        </p:spPr>
        <p:txBody>
          <a:bodyPr wrap="square" lIns="0" tIns="0" rIns="0" bIns="0" rtlCol="0" anchor="t"/>
          <a:lstStyle/>
          <a:p>
            <a:pPr marL="0" indent="0">
              <a:lnSpc>
                <a:spcPts val="3360"/>
              </a:lnSpc>
              <a:buNone/>
            </a:pPr>
            <a:r>
              <a:rPr lang="en-US" sz="2100" b="1" dirty="0">
                <a:solidFill>
                  <a:srgbClr val="38BDF8"/>
                </a:solidFill>
                <a:latin typeface="Arial" pitchFamily="34" charset="0"/>
                <a:ea typeface="Arial" pitchFamily="34" charset="-122"/>
                <a:cs typeface="Arial" pitchFamily="34" charset="-120"/>
              </a:rPr>
              <a:t>Team Structure</a:t>
            </a:r>
            <a:endParaRPr lang="en-US" sz="2100" dirty="0"/>
          </a:p>
        </p:txBody>
      </p:sp>
      <p:sp>
        <p:nvSpPr>
          <p:cNvPr id="6" name="Text 4"/>
          <p:cNvSpPr/>
          <p:nvPr/>
        </p:nvSpPr>
        <p:spPr>
          <a:xfrm>
            <a:off x="716855" y="1264862"/>
            <a:ext cx="7710291" cy="469276"/>
          </a:xfrm>
          <a:prstGeom prst="rect">
            <a:avLst/>
          </a:prstGeom>
          <a:noFill/>
          <a:ln/>
        </p:spPr>
        <p:txBody>
          <a:bodyPr wrap="square" lIns="0" tIns="0" rIns="0" bIns="0" rtlCol="0" anchor="t"/>
          <a:lstStyle/>
          <a:p>
            <a:pPr marL="0" indent="0" algn="ctr">
              <a:lnSpc>
                <a:spcPts val="4928"/>
              </a:lnSpc>
              <a:buNone/>
            </a:pPr>
            <a:r>
              <a:rPr lang="en-US" sz="2640" dirty="0">
                <a:solidFill>
                  <a:srgbClr val="F1F5F9"/>
                </a:solidFill>
                <a:latin typeface="Arial" pitchFamily="34" charset="0"/>
                <a:ea typeface="Arial" pitchFamily="34" charset="-122"/>
                <a:cs typeface="Arial" pitchFamily="34" charset="-120"/>
              </a:rPr>
              <a:t>💻</a:t>
            </a:r>
            <a:endParaRPr lang="en-US" sz="2640" dirty="0"/>
          </a:p>
        </p:txBody>
      </p:sp>
      <p:sp>
        <p:nvSpPr>
          <p:cNvPr id="7" name="Text 5"/>
          <p:cNvSpPr/>
          <p:nvPr/>
        </p:nvSpPr>
        <p:spPr>
          <a:xfrm>
            <a:off x="716855" y="1795035"/>
            <a:ext cx="7710291" cy="201131"/>
          </a:xfrm>
          <a:prstGeom prst="rect">
            <a:avLst/>
          </a:prstGeom>
          <a:noFill/>
          <a:ln/>
        </p:spPr>
        <p:txBody>
          <a:bodyPr wrap="square" lIns="0" tIns="0" rIns="0" bIns="0" rtlCol="0" anchor="t"/>
          <a:lstStyle/>
          <a:p>
            <a:pPr marL="0" indent="0" algn="ctr">
              <a:lnSpc>
                <a:spcPts val="2112"/>
              </a:lnSpc>
              <a:buNone/>
            </a:pPr>
            <a:r>
              <a:rPr lang="en-US" sz="1320" b="1" dirty="0">
                <a:solidFill>
                  <a:srgbClr val="38BDF8"/>
                </a:solidFill>
                <a:latin typeface="Arial" pitchFamily="34" charset="0"/>
                <a:ea typeface="Arial" pitchFamily="34" charset="-122"/>
                <a:cs typeface="Arial" pitchFamily="34" charset="-120"/>
              </a:rPr>
              <a:t>Developers</a:t>
            </a:r>
            <a:endParaRPr lang="en-US" sz="1320" dirty="0"/>
          </a:p>
        </p:txBody>
      </p:sp>
      <p:sp>
        <p:nvSpPr>
          <p:cNvPr id="8" name="Text 6"/>
          <p:cNvSpPr/>
          <p:nvPr/>
        </p:nvSpPr>
        <p:spPr>
          <a:xfrm>
            <a:off x="716855" y="1996167"/>
            <a:ext cx="7710291" cy="170685"/>
          </a:xfrm>
          <a:prstGeom prst="rect">
            <a:avLst/>
          </a:prstGeom>
          <a:noFill/>
          <a:ln/>
        </p:spPr>
        <p:txBody>
          <a:bodyPr wrap="square" lIns="0" tIns="0" rIns="0" bIns="0" rtlCol="0" anchor="t"/>
          <a:lstStyle/>
          <a:p>
            <a:pPr marL="0" indent="0" algn="ctr">
              <a:lnSpc>
                <a:spcPts val="1792"/>
              </a:lnSpc>
              <a:buNone/>
            </a:pPr>
            <a:r>
              <a:rPr lang="en-US" sz="960" dirty="0">
                <a:solidFill>
                  <a:srgbClr val="CBD5E1"/>
                </a:solidFill>
                <a:latin typeface="Arial" pitchFamily="34" charset="0"/>
                <a:ea typeface="Arial" pitchFamily="34" charset="-122"/>
                <a:cs typeface="Arial" pitchFamily="34" charset="-120"/>
              </a:rPr>
              <a:t>App creation &amp; updates</a:t>
            </a:r>
            <a:endParaRPr lang="en-US" sz="960" dirty="0"/>
          </a:p>
        </p:txBody>
      </p:sp>
      <p:sp>
        <p:nvSpPr>
          <p:cNvPr id="9" name="Text 7"/>
          <p:cNvSpPr/>
          <p:nvPr/>
        </p:nvSpPr>
        <p:spPr>
          <a:xfrm>
            <a:off x="716855" y="2684943"/>
            <a:ext cx="7710291" cy="469276"/>
          </a:xfrm>
          <a:prstGeom prst="rect">
            <a:avLst/>
          </a:prstGeom>
          <a:noFill/>
          <a:ln/>
        </p:spPr>
        <p:txBody>
          <a:bodyPr wrap="square" lIns="0" tIns="0" rIns="0" bIns="0" rtlCol="0" anchor="t"/>
          <a:lstStyle/>
          <a:p>
            <a:pPr marL="0" indent="0" algn="ctr">
              <a:lnSpc>
                <a:spcPts val="4928"/>
              </a:lnSpc>
              <a:buNone/>
            </a:pPr>
            <a:r>
              <a:rPr lang="en-US" sz="2640" dirty="0">
                <a:solidFill>
                  <a:srgbClr val="F1F5F9"/>
                </a:solidFill>
                <a:latin typeface="Arial" pitchFamily="34" charset="0"/>
                <a:ea typeface="Arial" pitchFamily="34" charset="-122"/>
                <a:cs typeface="Arial" pitchFamily="34" charset="-120"/>
              </a:rPr>
              <a:t>🎨</a:t>
            </a:r>
            <a:endParaRPr lang="en-US" sz="2640" dirty="0"/>
          </a:p>
        </p:txBody>
      </p:sp>
      <p:sp>
        <p:nvSpPr>
          <p:cNvPr id="10" name="Text 8"/>
          <p:cNvSpPr/>
          <p:nvPr/>
        </p:nvSpPr>
        <p:spPr>
          <a:xfrm>
            <a:off x="716855" y="3215106"/>
            <a:ext cx="7710291" cy="201131"/>
          </a:xfrm>
          <a:prstGeom prst="rect">
            <a:avLst/>
          </a:prstGeom>
          <a:noFill/>
          <a:ln/>
        </p:spPr>
        <p:txBody>
          <a:bodyPr wrap="square" lIns="0" tIns="0" rIns="0" bIns="0" rtlCol="0" anchor="t"/>
          <a:lstStyle/>
          <a:p>
            <a:pPr marL="0" indent="0" algn="ctr">
              <a:lnSpc>
                <a:spcPts val="2112"/>
              </a:lnSpc>
              <a:buNone/>
            </a:pPr>
            <a:r>
              <a:rPr lang="en-US" sz="1320" b="1" dirty="0">
                <a:solidFill>
                  <a:srgbClr val="38BDF8"/>
                </a:solidFill>
                <a:latin typeface="Arial" pitchFamily="34" charset="0"/>
                <a:ea typeface="Arial" pitchFamily="34" charset="-122"/>
                <a:cs typeface="Arial" pitchFamily="34" charset="-120"/>
              </a:rPr>
              <a:t>Designers</a:t>
            </a:r>
            <a:endParaRPr lang="en-US" sz="1320" dirty="0"/>
          </a:p>
        </p:txBody>
      </p:sp>
      <p:sp>
        <p:nvSpPr>
          <p:cNvPr id="11" name="Text 9"/>
          <p:cNvSpPr/>
          <p:nvPr/>
        </p:nvSpPr>
        <p:spPr>
          <a:xfrm>
            <a:off x="716855" y="3416238"/>
            <a:ext cx="7710291" cy="170685"/>
          </a:xfrm>
          <a:prstGeom prst="rect">
            <a:avLst/>
          </a:prstGeom>
          <a:noFill/>
          <a:ln/>
        </p:spPr>
        <p:txBody>
          <a:bodyPr wrap="square" lIns="0" tIns="0" rIns="0" bIns="0" rtlCol="0" anchor="t"/>
          <a:lstStyle/>
          <a:p>
            <a:pPr marL="0" indent="0" algn="ctr">
              <a:lnSpc>
                <a:spcPts val="1792"/>
              </a:lnSpc>
              <a:buNone/>
            </a:pPr>
            <a:r>
              <a:rPr lang="en-US" sz="960" dirty="0">
                <a:solidFill>
                  <a:srgbClr val="CBD5E1"/>
                </a:solidFill>
                <a:latin typeface="Arial" pitchFamily="34" charset="0"/>
                <a:ea typeface="Arial" pitchFamily="34" charset="-122"/>
                <a:cs typeface="Arial" pitchFamily="34" charset="-120"/>
              </a:rPr>
              <a:t>UI/UX &amp; visual layout</a:t>
            </a:r>
            <a:endParaRPr lang="en-US" sz="960" dirty="0"/>
          </a:p>
        </p:txBody>
      </p:sp>
      <p:sp>
        <p:nvSpPr>
          <p:cNvPr id="12" name="Text 10"/>
          <p:cNvSpPr/>
          <p:nvPr/>
        </p:nvSpPr>
        <p:spPr>
          <a:xfrm>
            <a:off x="716855" y="4105015"/>
            <a:ext cx="7710291" cy="469276"/>
          </a:xfrm>
          <a:prstGeom prst="rect">
            <a:avLst/>
          </a:prstGeom>
          <a:noFill/>
          <a:ln/>
        </p:spPr>
        <p:txBody>
          <a:bodyPr wrap="square" lIns="0" tIns="0" rIns="0" bIns="0" rtlCol="0" anchor="t"/>
          <a:lstStyle/>
          <a:p>
            <a:pPr marL="0" indent="0" algn="ctr">
              <a:lnSpc>
                <a:spcPts val="4928"/>
              </a:lnSpc>
              <a:buNone/>
            </a:pPr>
            <a:r>
              <a:rPr lang="en-US" sz="2640" dirty="0">
                <a:solidFill>
                  <a:srgbClr val="F1F5F9"/>
                </a:solidFill>
                <a:latin typeface="Arial" pitchFamily="34" charset="0"/>
                <a:ea typeface="Arial" pitchFamily="34" charset="-122"/>
                <a:cs typeface="Arial" pitchFamily="34" charset="-120"/>
              </a:rPr>
              <a:t>💬</a:t>
            </a:r>
            <a:endParaRPr lang="en-US" sz="2640" dirty="0"/>
          </a:p>
        </p:txBody>
      </p:sp>
      <p:sp>
        <p:nvSpPr>
          <p:cNvPr id="13" name="Text 11"/>
          <p:cNvSpPr/>
          <p:nvPr/>
        </p:nvSpPr>
        <p:spPr>
          <a:xfrm>
            <a:off x="716855" y="4635187"/>
            <a:ext cx="7710291" cy="201131"/>
          </a:xfrm>
          <a:prstGeom prst="rect">
            <a:avLst/>
          </a:prstGeom>
          <a:noFill/>
          <a:ln/>
        </p:spPr>
        <p:txBody>
          <a:bodyPr wrap="square" lIns="0" tIns="0" rIns="0" bIns="0" rtlCol="0" anchor="t"/>
          <a:lstStyle/>
          <a:p>
            <a:pPr marL="0" indent="0" algn="ctr">
              <a:lnSpc>
                <a:spcPts val="2112"/>
              </a:lnSpc>
              <a:buNone/>
            </a:pPr>
            <a:r>
              <a:rPr lang="en-US" sz="1320" b="1" dirty="0">
                <a:solidFill>
                  <a:srgbClr val="38BDF8"/>
                </a:solidFill>
                <a:latin typeface="Arial" pitchFamily="34" charset="0"/>
                <a:ea typeface="Arial" pitchFamily="34" charset="-122"/>
                <a:cs typeface="Arial" pitchFamily="34" charset="-120"/>
              </a:rPr>
              <a:t>Support Staff</a:t>
            </a:r>
            <a:endParaRPr lang="en-US" sz="1320" dirty="0"/>
          </a:p>
        </p:txBody>
      </p:sp>
      <p:sp>
        <p:nvSpPr>
          <p:cNvPr id="14" name="Text 12"/>
          <p:cNvSpPr/>
          <p:nvPr/>
        </p:nvSpPr>
        <p:spPr>
          <a:xfrm>
            <a:off x="716855" y="4836319"/>
            <a:ext cx="7710291" cy="170685"/>
          </a:xfrm>
          <a:prstGeom prst="rect">
            <a:avLst/>
          </a:prstGeom>
          <a:noFill/>
          <a:ln/>
        </p:spPr>
        <p:txBody>
          <a:bodyPr wrap="square" lIns="0" tIns="0" rIns="0" bIns="0" rtlCol="0" anchor="t"/>
          <a:lstStyle/>
          <a:p>
            <a:pPr marL="0" indent="0" algn="ctr">
              <a:lnSpc>
                <a:spcPts val="1792"/>
              </a:lnSpc>
              <a:buNone/>
            </a:pPr>
            <a:r>
              <a:rPr lang="en-US" sz="960" dirty="0">
                <a:solidFill>
                  <a:srgbClr val="CBD5E1"/>
                </a:solidFill>
                <a:latin typeface="Arial" pitchFamily="34" charset="0"/>
                <a:ea typeface="Arial" pitchFamily="34" charset="-122"/>
                <a:cs typeface="Arial" pitchFamily="34" charset="-120"/>
              </a:rPr>
              <a:t>Customer assistance</a:t>
            </a:r>
            <a:endParaRPr lang="en-US" sz="9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7" cy="411446"/>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Arial" pitchFamily="34" charset="0"/>
                <a:ea typeface="Arial" pitchFamily="34" charset="-122"/>
                <a:cs typeface="Arial" pitchFamily="34" charset="-120"/>
              </a:rPr>
              <a:t>Risk Mitigation Strategies</a:t>
            </a:r>
            <a:endParaRPr lang="en-US" sz="2700" dirty="0"/>
          </a:p>
        </p:txBody>
      </p:sp>
      <p:sp>
        <p:nvSpPr>
          <p:cNvPr id="3" name="Text 1"/>
          <p:cNvSpPr/>
          <p:nvPr/>
        </p:nvSpPr>
        <p:spPr>
          <a:xfrm>
            <a:off x="914400" y="1249645"/>
            <a:ext cx="7620001" cy="1844023"/>
          </a:xfrm>
          <a:prstGeom prst="rect">
            <a:avLst/>
          </a:prstGeom>
          <a:noFill/>
          <a:ln/>
        </p:spPr>
        <p:txBody>
          <a:bodyPr wrap="square" lIns="0" tIns="0" rIns="0" bIns="0" rtlCol="0" anchor="t"/>
          <a:lstStyle/>
          <a:p>
            <a:pPr marL="342900" indent="-342900">
              <a:lnSpc>
                <a:spcPts val="2592"/>
              </a:lnSpc>
              <a:buSzPct val="100000"/>
              <a:buChar char="•"/>
            </a:pPr>
            <a:r>
              <a:rPr lang="en-US" sz="1080" b="1" dirty="0">
                <a:solidFill>
                  <a:srgbClr val="CBD5E1"/>
                </a:solidFill>
                <a:latin typeface="Arial" pitchFamily="34" charset="0"/>
                <a:ea typeface="Arial" pitchFamily="34" charset="-122"/>
                <a:cs typeface="Arial" pitchFamily="34" charset="-120"/>
              </a:rPr>
              <a:t>Competition:</a:t>
            </a:r>
            <a:r>
              <a:rPr lang="en-US" sz="1080" dirty="0">
                <a:solidFill>
                  <a:srgbClr val="CBD5E1"/>
                </a:solidFill>
                <a:latin typeface="Arial" pitchFamily="34" charset="0"/>
                <a:ea typeface="Arial" pitchFamily="34" charset="-122"/>
                <a:cs typeface="Arial" pitchFamily="34" charset="-120"/>
              </a:rPr>
              <a:t> Continuous innovation and unique AI features</a:t>
            </a:r>
            <a:endParaRPr lang="en-US" sz="1080" dirty="0"/>
          </a:p>
          <a:p>
            <a:pPr marL="342900" indent="-342900">
              <a:lnSpc>
                <a:spcPts val="2592"/>
              </a:lnSpc>
              <a:buSzPct val="100000"/>
              <a:buChar char="•"/>
            </a:pPr>
            <a:r>
              <a:rPr lang="en-US" sz="1080" b="1" dirty="0">
                <a:solidFill>
                  <a:srgbClr val="CBD5E1"/>
                </a:solidFill>
                <a:latin typeface="Arial" pitchFamily="34" charset="0"/>
                <a:ea typeface="Arial" pitchFamily="34" charset="-122"/>
                <a:cs typeface="Arial" pitchFamily="34" charset="-120"/>
              </a:rPr>
              <a:t>Technology:</a:t>
            </a:r>
            <a:r>
              <a:rPr lang="en-US" sz="1080" dirty="0">
                <a:solidFill>
                  <a:srgbClr val="CBD5E1"/>
                </a:solidFill>
                <a:latin typeface="Arial" pitchFamily="34" charset="0"/>
                <a:ea typeface="Arial" pitchFamily="34" charset="-122"/>
                <a:cs typeface="Arial" pitchFamily="34" charset="-120"/>
              </a:rPr>
              <a:t> Regular updates and version control</a:t>
            </a:r>
            <a:endParaRPr lang="en-US" sz="1080" dirty="0"/>
          </a:p>
          <a:p>
            <a:pPr marL="342900" indent="-342900">
              <a:lnSpc>
                <a:spcPts val="2592"/>
              </a:lnSpc>
              <a:buSzPct val="100000"/>
              <a:buChar char="•"/>
            </a:pPr>
            <a:r>
              <a:rPr lang="en-US" sz="1080" b="1" dirty="0">
                <a:solidFill>
                  <a:srgbClr val="CBD5E1"/>
                </a:solidFill>
                <a:latin typeface="Arial" pitchFamily="34" charset="0"/>
                <a:ea typeface="Arial" pitchFamily="34" charset="-122"/>
                <a:cs typeface="Arial" pitchFamily="34" charset="-120"/>
              </a:rPr>
              <a:t>Data Privacy:</a:t>
            </a:r>
            <a:r>
              <a:rPr lang="en-US" sz="1080" dirty="0">
                <a:solidFill>
                  <a:srgbClr val="CBD5E1"/>
                </a:solidFill>
                <a:latin typeface="Arial" pitchFamily="34" charset="0"/>
                <a:ea typeface="Arial" pitchFamily="34" charset="-122"/>
                <a:cs typeface="Arial" pitchFamily="34" charset="-120"/>
              </a:rPr>
              <a:t> Encryption and compliance with regulations</a:t>
            </a:r>
            <a:endParaRPr lang="en-US" sz="1080" dirty="0"/>
          </a:p>
          <a:p>
            <a:pPr marL="342900" indent="-342900">
              <a:lnSpc>
                <a:spcPts val="2592"/>
              </a:lnSpc>
              <a:buSzPct val="100000"/>
              <a:buChar char="•"/>
            </a:pPr>
            <a:r>
              <a:rPr lang="en-US" sz="1080" b="1" dirty="0">
                <a:solidFill>
                  <a:srgbClr val="CBD5E1"/>
                </a:solidFill>
                <a:latin typeface="Arial" pitchFamily="34" charset="0"/>
                <a:ea typeface="Arial" pitchFamily="34" charset="-122"/>
                <a:cs typeface="Arial" pitchFamily="34" charset="-120"/>
              </a:rPr>
              <a:t>User Acquisition:</a:t>
            </a:r>
            <a:r>
              <a:rPr lang="en-US" sz="1080" dirty="0">
                <a:solidFill>
                  <a:srgbClr val="CBD5E1"/>
                </a:solidFill>
                <a:latin typeface="Arial" pitchFamily="34" charset="0"/>
                <a:ea typeface="Arial" pitchFamily="34" charset="-122"/>
                <a:cs typeface="Arial" pitchFamily="34" charset="-120"/>
              </a:rPr>
              <a:t> Strategic partnerships with schools</a:t>
            </a:r>
            <a:endParaRPr lang="en-US" sz="1080" dirty="0"/>
          </a:p>
          <a:p>
            <a:pPr marL="342900" indent="-342900">
              <a:lnSpc>
                <a:spcPts val="2592"/>
              </a:lnSpc>
              <a:buSzPct val="100000"/>
              <a:buChar char="•"/>
            </a:pPr>
            <a:r>
              <a:rPr lang="en-US" sz="1080" b="1" dirty="0">
                <a:solidFill>
                  <a:srgbClr val="CBD5E1"/>
                </a:solidFill>
                <a:latin typeface="Arial" pitchFamily="34" charset="0"/>
                <a:ea typeface="Arial" pitchFamily="34" charset="-122"/>
                <a:cs typeface="Arial" pitchFamily="34" charset="-120"/>
              </a:rPr>
              <a:t>Budget:</a:t>
            </a:r>
            <a:r>
              <a:rPr lang="en-US" sz="1080" dirty="0">
                <a:solidFill>
                  <a:srgbClr val="CBD5E1"/>
                </a:solidFill>
                <a:latin typeface="Arial" pitchFamily="34" charset="0"/>
                <a:ea typeface="Arial" pitchFamily="34" charset="-122"/>
                <a:cs typeface="Arial" pitchFamily="34" charset="-120"/>
              </a:rPr>
              <a:t> Phased rollout to manage costs</a:t>
            </a:r>
            <a:endParaRPr lang="en-US" sz="10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082018"/>
            <a:ext cx="7924801" cy="1049026"/>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2283442"/>
            <a:ext cx="7924801" cy="1049026"/>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3484876"/>
            <a:ext cx="7924801" cy="1049026"/>
          </a:xfrm>
          <a:prstGeom prst="rect">
            <a:avLst/>
          </a:prstGeom>
          <a:solidFill>
            <a:srgbClr val="1E293B"/>
          </a:solidFill>
          <a:ln/>
          <a:effectLst>
            <a:outerShdw blurRad="152400" dist="76200" dir="5400000" algn="bl" rotWithShape="0">
              <a:srgbClr val="000000">
                <a:alpha val="20000"/>
              </a:srgbClr>
            </a:outerShdw>
          </a:effectLst>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7" cy="320023"/>
          </a:xfrm>
          <a:prstGeom prst="rect">
            <a:avLst/>
          </a:prstGeom>
          <a:noFill/>
          <a:ln/>
        </p:spPr>
        <p:txBody>
          <a:bodyPr wrap="square" lIns="0" tIns="0" rIns="0" bIns="0" rtlCol="0" anchor="t"/>
          <a:lstStyle/>
          <a:p>
            <a:pPr marL="0" indent="0">
              <a:lnSpc>
                <a:spcPts val="3360"/>
              </a:lnSpc>
              <a:buNone/>
            </a:pPr>
            <a:r>
              <a:rPr lang="en-US" sz="2100" b="1" dirty="0">
                <a:solidFill>
                  <a:srgbClr val="38BDF8"/>
                </a:solidFill>
                <a:latin typeface="Arial" pitchFamily="34" charset="0"/>
                <a:ea typeface="Arial" pitchFamily="34" charset="-122"/>
                <a:cs typeface="Arial" pitchFamily="34" charset="-120"/>
              </a:rPr>
              <a:t>Key Success Metrics</a:t>
            </a:r>
            <a:endParaRPr lang="en-US" sz="2100" dirty="0"/>
          </a:p>
        </p:txBody>
      </p:sp>
      <p:sp>
        <p:nvSpPr>
          <p:cNvPr id="6" name="Text 4"/>
          <p:cNvSpPr/>
          <p:nvPr/>
        </p:nvSpPr>
        <p:spPr>
          <a:xfrm>
            <a:off x="792446" y="1264862"/>
            <a:ext cx="7710291" cy="277416"/>
          </a:xfrm>
          <a:prstGeom prst="rect">
            <a:avLst/>
          </a:prstGeom>
          <a:noFill/>
          <a:ln/>
        </p:spPr>
        <p:txBody>
          <a:bodyPr wrap="square" lIns="0" tIns="0" rIns="0" bIns="0" rtlCol="0" anchor="t"/>
          <a:lstStyle/>
          <a:p>
            <a:pPr marL="0" indent="0">
              <a:lnSpc>
                <a:spcPts val="2912"/>
              </a:lnSpc>
              <a:buNone/>
            </a:pPr>
            <a:r>
              <a:rPr lang="en-US" sz="1560" b="1" dirty="0">
                <a:solidFill>
                  <a:srgbClr val="38BDF8"/>
                </a:solidFill>
                <a:latin typeface="Arial" pitchFamily="34" charset="0"/>
                <a:ea typeface="Arial" pitchFamily="34" charset="-122"/>
                <a:cs typeface="Arial" pitchFamily="34" charset="-120"/>
              </a:rPr>
              <a:t>10K+</a:t>
            </a:r>
            <a:endParaRPr lang="en-US" sz="1560" dirty="0"/>
          </a:p>
        </p:txBody>
      </p:sp>
      <p:sp>
        <p:nvSpPr>
          <p:cNvPr id="7" name="Text 5"/>
          <p:cNvSpPr/>
          <p:nvPr/>
        </p:nvSpPr>
        <p:spPr>
          <a:xfrm>
            <a:off x="792446" y="1542278"/>
            <a:ext cx="7710291" cy="181315"/>
          </a:xfrm>
          <a:prstGeom prst="rect">
            <a:avLst/>
          </a:prstGeom>
          <a:noFill/>
          <a:ln/>
        </p:spPr>
        <p:txBody>
          <a:bodyPr wrap="square" lIns="0" tIns="0" rIns="0" bIns="0" rtlCol="0" anchor="t"/>
          <a:lstStyle/>
          <a:p>
            <a:pPr marL="0" indent="0">
              <a:lnSpc>
                <a:spcPts val="1904"/>
              </a:lnSpc>
              <a:buNone/>
            </a:pPr>
            <a:r>
              <a:rPr lang="en-US" sz="1020" dirty="0">
                <a:solidFill>
                  <a:srgbClr val="CBD5E1"/>
                </a:solidFill>
                <a:latin typeface="Arial" pitchFamily="34" charset="0"/>
                <a:ea typeface="Arial" pitchFamily="34" charset="-122"/>
                <a:cs typeface="Arial" pitchFamily="34" charset="-120"/>
              </a:rPr>
              <a:t>Users by Year 1</a:t>
            </a:r>
            <a:endParaRPr lang="en-US" sz="1020" dirty="0"/>
          </a:p>
        </p:txBody>
      </p:sp>
      <p:sp>
        <p:nvSpPr>
          <p:cNvPr id="8" name="Text 6"/>
          <p:cNvSpPr/>
          <p:nvPr/>
        </p:nvSpPr>
        <p:spPr>
          <a:xfrm>
            <a:off x="792446" y="2466296"/>
            <a:ext cx="7710291" cy="277416"/>
          </a:xfrm>
          <a:prstGeom prst="rect">
            <a:avLst/>
          </a:prstGeom>
          <a:noFill/>
          <a:ln/>
        </p:spPr>
        <p:txBody>
          <a:bodyPr wrap="square" lIns="0" tIns="0" rIns="0" bIns="0" rtlCol="0" anchor="t"/>
          <a:lstStyle/>
          <a:p>
            <a:pPr marL="0" indent="0">
              <a:lnSpc>
                <a:spcPts val="2912"/>
              </a:lnSpc>
              <a:buNone/>
            </a:pPr>
            <a:r>
              <a:rPr lang="en-US" sz="1560" b="1" dirty="0">
                <a:solidFill>
                  <a:srgbClr val="38BDF8"/>
                </a:solidFill>
                <a:latin typeface="Arial" pitchFamily="34" charset="0"/>
                <a:ea typeface="Arial" pitchFamily="34" charset="-122"/>
                <a:cs typeface="Arial" pitchFamily="34" charset="-120"/>
              </a:rPr>
              <a:t>50+</a:t>
            </a:r>
            <a:endParaRPr lang="en-US" sz="1560" dirty="0"/>
          </a:p>
        </p:txBody>
      </p:sp>
      <p:sp>
        <p:nvSpPr>
          <p:cNvPr id="9" name="Text 7"/>
          <p:cNvSpPr/>
          <p:nvPr/>
        </p:nvSpPr>
        <p:spPr>
          <a:xfrm>
            <a:off x="792446" y="2743712"/>
            <a:ext cx="7710291" cy="181315"/>
          </a:xfrm>
          <a:prstGeom prst="rect">
            <a:avLst/>
          </a:prstGeom>
          <a:noFill/>
          <a:ln/>
        </p:spPr>
        <p:txBody>
          <a:bodyPr wrap="square" lIns="0" tIns="0" rIns="0" bIns="0" rtlCol="0" anchor="t"/>
          <a:lstStyle/>
          <a:p>
            <a:pPr marL="0" indent="0">
              <a:lnSpc>
                <a:spcPts val="1904"/>
              </a:lnSpc>
              <a:buNone/>
            </a:pPr>
            <a:r>
              <a:rPr lang="en-US" sz="1020" dirty="0">
                <a:solidFill>
                  <a:srgbClr val="CBD5E1"/>
                </a:solidFill>
                <a:latin typeface="Arial" pitchFamily="34" charset="0"/>
                <a:ea typeface="Arial" pitchFamily="34" charset="-122"/>
                <a:cs typeface="Arial" pitchFamily="34" charset="-120"/>
              </a:rPr>
              <a:t>Schools Partnered</a:t>
            </a:r>
            <a:endParaRPr lang="en-US" sz="1020" dirty="0"/>
          </a:p>
        </p:txBody>
      </p:sp>
      <p:sp>
        <p:nvSpPr>
          <p:cNvPr id="10" name="Text 8"/>
          <p:cNvSpPr/>
          <p:nvPr/>
        </p:nvSpPr>
        <p:spPr>
          <a:xfrm>
            <a:off x="792446" y="3667720"/>
            <a:ext cx="7710291" cy="277416"/>
          </a:xfrm>
          <a:prstGeom prst="rect">
            <a:avLst/>
          </a:prstGeom>
          <a:noFill/>
          <a:ln/>
        </p:spPr>
        <p:txBody>
          <a:bodyPr wrap="square" lIns="0" tIns="0" rIns="0" bIns="0" rtlCol="0" anchor="t"/>
          <a:lstStyle/>
          <a:p>
            <a:pPr marL="0" indent="0">
              <a:lnSpc>
                <a:spcPts val="2912"/>
              </a:lnSpc>
              <a:buNone/>
            </a:pPr>
            <a:r>
              <a:rPr lang="en-US" sz="1560" b="1" dirty="0">
                <a:solidFill>
                  <a:srgbClr val="38BDF8"/>
                </a:solidFill>
                <a:latin typeface="Arial" pitchFamily="34" charset="0"/>
                <a:ea typeface="Arial" pitchFamily="34" charset="-122"/>
                <a:cs typeface="Arial" pitchFamily="34" charset="-120"/>
              </a:rPr>
              <a:t>4.5+</a:t>
            </a:r>
            <a:endParaRPr lang="en-US" sz="1560" dirty="0"/>
          </a:p>
        </p:txBody>
      </p:sp>
      <p:sp>
        <p:nvSpPr>
          <p:cNvPr id="11" name="Text 9"/>
          <p:cNvSpPr/>
          <p:nvPr/>
        </p:nvSpPr>
        <p:spPr>
          <a:xfrm>
            <a:off x="792446" y="3945136"/>
            <a:ext cx="7710291" cy="181315"/>
          </a:xfrm>
          <a:prstGeom prst="rect">
            <a:avLst/>
          </a:prstGeom>
          <a:noFill/>
          <a:ln/>
        </p:spPr>
        <p:txBody>
          <a:bodyPr wrap="square" lIns="0" tIns="0" rIns="0" bIns="0" rtlCol="0" anchor="t"/>
          <a:lstStyle/>
          <a:p>
            <a:pPr marL="0" indent="0">
              <a:lnSpc>
                <a:spcPts val="1904"/>
              </a:lnSpc>
              <a:buNone/>
            </a:pPr>
            <a:r>
              <a:rPr lang="en-US" sz="1020" dirty="0">
                <a:solidFill>
                  <a:srgbClr val="CBD5E1"/>
                </a:solidFill>
                <a:latin typeface="Arial" pitchFamily="34" charset="0"/>
                <a:ea typeface="Arial" pitchFamily="34" charset="-122"/>
                <a:cs typeface="Arial" pitchFamily="34" charset="-120"/>
              </a:rPr>
              <a:t>App Store Rating</a:t>
            </a:r>
            <a:endParaRPr lang="en-US" sz="10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3276345" y="2948918"/>
            <a:ext cx="2591310" cy="518092"/>
          </a:xfrm>
          <a:prstGeom prst="rect">
            <a:avLst/>
          </a:prstGeom>
          <a:solidFill>
            <a:srgbClr val="38BDF8"/>
          </a:solidFill>
          <a:ln/>
        </p:spPr>
        <p:txBody>
          <a:bodyPr wrap="square" lIns="304800" tIns="304800" rIns="304800" bIns="304800" rtlCol="0" anchor="t">
            <a:normAutofit/>
          </a:bodyPr>
          <a:lstStyle/>
          <a:p>
            <a:pPr marL="0" indent="0" algn="ctr">
              <a:buNone/>
            </a:pPr>
            <a:r>
              <a:rPr lang="en-US" sz="1200" b="1" dirty="0">
                <a:solidFill>
                  <a:srgbClr val="0F172A"/>
                </a:solidFill>
                <a:latin typeface="Arial" pitchFamily="34" charset="0"/>
                <a:ea typeface="Arial" pitchFamily="34" charset="-122"/>
                <a:cs typeface="Arial" pitchFamily="34" charset="-120"/>
              </a:rPr>
              <a:t>Learn More at QuestAI.com</a:t>
            </a:r>
            <a:endParaRPr lang="en-US" sz="1200" dirty="0"/>
          </a:p>
        </p:txBody>
      </p:sp>
      <p:sp>
        <p:nvSpPr>
          <p:cNvPr id="3" name="Text 1"/>
          <p:cNvSpPr/>
          <p:nvPr/>
        </p:nvSpPr>
        <p:spPr>
          <a:xfrm>
            <a:off x="1419494" y="1676400"/>
            <a:ext cx="6305013" cy="548623"/>
          </a:xfrm>
          <a:prstGeom prst="rect">
            <a:avLst/>
          </a:prstGeom>
          <a:noFill/>
          <a:ln/>
        </p:spPr>
        <p:txBody>
          <a:bodyPr wrap="square" lIns="0" tIns="0" rIns="0" bIns="0" rtlCol="0" anchor="t"/>
          <a:lstStyle/>
          <a:p>
            <a:pPr marL="0" indent="0" algn="ctr">
              <a:lnSpc>
                <a:spcPts val="5760"/>
              </a:lnSpc>
              <a:buNone/>
            </a:pPr>
            <a:r>
              <a:rPr lang="en-US" sz="3600" b="1" dirty="0">
                <a:solidFill>
                  <a:srgbClr val="38BDF8"/>
                </a:solidFill>
                <a:latin typeface="Arial" pitchFamily="34" charset="0"/>
                <a:ea typeface="Arial" pitchFamily="34" charset="-122"/>
                <a:cs typeface="Arial" pitchFamily="34" charset="-120"/>
              </a:rPr>
              <a:t>Join the Learning Adventure</a:t>
            </a:r>
            <a:endParaRPr lang="en-US" sz="3600" dirty="0"/>
          </a:p>
        </p:txBody>
      </p:sp>
      <p:sp>
        <p:nvSpPr>
          <p:cNvPr id="4" name="Text 2"/>
          <p:cNvSpPr/>
          <p:nvPr/>
        </p:nvSpPr>
        <p:spPr>
          <a:xfrm>
            <a:off x="2264222" y="2377418"/>
            <a:ext cx="4615557" cy="266700"/>
          </a:xfrm>
          <a:prstGeom prst="rect">
            <a:avLst/>
          </a:prstGeom>
          <a:noFill/>
          <a:ln/>
        </p:spPr>
        <p:txBody>
          <a:bodyPr wrap="square" lIns="0" tIns="0" rIns="0" bIns="0" rtlCol="0" anchor="t"/>
          <a:lstStyle/>
          <a:p>
            <a:pPr marL="0" indent="0" algn="ctr">
              <a:lnSpc>
                <a:spcPts val="2800"/>
              </a:lnSpc>
              <a:buNone/>
            </a:pPr>
            <a:r>
              <a:rPr lang="en-US" sz="1500" dirty="0">
                <a:solidFill>
                  <a:srgbClr val="CBD5E1"/>
                </a:solidFill>
                <a:latin typeface="Arial" pitchFamily="34" charset="0"/>
                <a:ea typeface="Arial" pitchFamily="34" charset="-122"/>
                <a:cs typeface="Arial" pitchFamily="34" charset="-120"/>
              </a:rPr>
              <a:t>Transform education through AI-powered gamification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1968</Words>
  <Application>Microsoft Office PowerPoint</Application>
  <PresentationFormat>On-screen Show (16:9)</PresentationFormat>
  <Paragraphs>153</Paragraphs>
  <Slides>27</Slides>
  <Notes>27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27</vt:i4>
      </vt:variant>
    </vt:vector>
  </HeadingPairs>
  <TitlesOfParts>
    <vt:vector size="2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yuvraj randhawa</cp:lastModifiedBy>
  <cp:revision>2</cp:revision>
  <dcterms:created xsi:type="dcterms:W3CDTF">2025-11-26T13:37:22Z</dcterms:created>
  <dcterms:modified xsi:type="dcterms:W3CDTF">2025-11-26T13:39:58Z</dcterms:modified>
</cp:coreProperties>
</file>